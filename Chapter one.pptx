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m4a" ContentType="audio/mp4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0"/>
  </p:notesMasterIdLst>
  <p:handoutMasterIdLst>
    <p:handoutMasterId r:id="rId51"/>
  </p:handoutMasterIdLst>
  <p:sldIdLst>
    <p:sldId id="257" r:id="rId5"/>
    <p:sldId id="259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  <p:sldId id="272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5" r:id="rId32"/>
    <p:sldId id="284" r:id="rId33"/>
    <p:sldId id="286" r:id="rId34"/>
    <p:sldId id="289" r:id="rId35"/>
    <p:sldId id="287" r:id="rId36"/>
    <p:sldId id="288" r:id="rId37"/>
    <p:sldId id="290" r:id="rId38"/>
    <p:sldId id="292" r:id="rId39"/>
    <p:sldId id="291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70128" autoAdjust="0"/>
  </p:normalViewPr>
  <p:slideViewPr>
    <p:cSldViewPr snapToGrid="0" showGuides="1">
      <p:cViewPr varScale="1">
        <p:scale>
          <a:sx n="89" d="100"/>
          <a:sy n="89" d="100"/>
        </p:scale>
        <p:origin x="418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>
        <p:scale>
          <a:sx n="96" d="100"/>
          <a:sy n="96" d="100"/>
        </p:scale>
        <p:origin x="1722" y="-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pPr/>
              <a:t>15-Oct-25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pPr/>
              <a:t>15-Oct-25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331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30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299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45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15-Oct-25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15-Oct-25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15-Oct-25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15-Oct-25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15-Oct-25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15-Oct-25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15-Oct-25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15-Oct-25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15-Oct-25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15-Oct-25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pPr/>
              <a:t>15-Oct-25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15-Oct-25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puterhope.com/jargon/i/internet.ht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xplainthatstuff.com/how-voip-works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" TargetMode="External"/><Relationship Id="rId2" Type="http://schemas.openxmlformats.org/officeDocument/2006/relationships/hyperlink" Target="http://www.ebay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ituens.com/" TargetMode="External"/><Relationship Id="rId4" Type="http://schemas.openxmlformats.org/officeDocument/2006/relationships/hyperlink" Target="http://www.google.com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7.png"/><Relationship Id="rId7" Type="http://schemas.openxmlformats.org/officeDocument/2006/relationships/hyperlink" Target="http://millennium.cs.ucla.edu/LK/Inet/birth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://www.ziplink.net/~lroberts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2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://millennium.cs.ucla.edu/LK/Inet/birth.html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22.jpeg"/><Relationship Id="rId2" Type="http://schemas.openxmlformats.org/officeDocument/2006/relationships/hyperlink" Target="http://www.cs.ucla.edu/~lk/lk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stevecrocker.com/" TargetMode="External"/><Relationship Id="rId5" Type="http://schemas.openxmlformats.org/officeDocument/2006/relationships/image" Target="../media/image21.jpeg"/><Relationship Id="rId4" Type="http://schemas.openxmlformats.org/officeDocument/2006/relationships/hyperlink" Target="http://www.livinginternet.com/i/iw_mgmt_iana.htm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hyperlink" Target="http://gingerdomain.com/documents/email_hosting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6.jpeg"/><Relationship Id="rId4" Type="http://schemas.openxmlformats.org/officeDocument/2006/relationships/image" Target="../media/image25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hyperlink" Target="http://www.viewimages.com/AltaVistaView.asp?imageid=NM014630&amp;partnerid=2&amp;promotionid=1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 fontScale="90000"/>
          </a:bodyPr>
          <a:lstStyle/>
          <a:p>
            <a:r>
              <a:rPr lang="en-US" dirty="0" smtClean="0">
                <a:latin typeface="Georgia" panose="02040502050405020303" pitchFamily="18" charset="0"/>
              </a:rPr>
              <a:t/>
            </a:r>
            <a:br>
              <a:rPr lang="en-US" dirty="0" smtClean="0">
                <a:latin typeface="Georgia" panose="02040502050405020303" pitchFamily="18" charset="0"/>
              </a:rPr>
            </a:br>
            <a:r>
              <a:rPr lang="en-US" dirty="0" smtClean="0">
                <a:latin typeface="Georgia" panose="02040502050405020303" pitchFamily="18" charset="0"/>
              </a:rPr>
              <a:t>Chapter One</a:t>
            </a:r>
            <a:br>
              <a:rPr lang="en-US" dirty="0" smtClean="0">
                <a:latin typeface="Georgia" panose="02040502050405020303" pitchFamily="18" charset="0"/>
              </a:rPr>
            </a:br>
            <a:r>
              <a:rPr lang="en-US" sz="3600" b="1" i="1" dirty="0" smtClean="0">
                <a:latin typeface="Georgia" panose="02040502050405020303" pitchFamily="18" charset="0"/>
              </a:rPr>
              <a:t>Introduction </a:t>
            </a:r>
            <a:r>
              <a:rPr lang="en-US" dirty="0" smtClean="0">
                <a:latin typeface="Georgia" panose="02040502050405020303" pitchFamily="18" charset="0"/>
              </a:rPr>
              <a:t> </a:t>
            </a:r>
            <a:br>
              <a:rPr lang="en-US" dirty="0" smtClean="0">
                <a:latin typeface="Georgia" panose="02040502050405020303" pitchFamily="18" charset="0"/>
              </a:rPr>
            </a:b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104900" y="4523816"/>
            <a:ext cx="5734050" cy="955565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Georgia" panose="02040502050405020303" pitchFamily="18" charset="0"/>
              </a:rPr>
              <a:t>Web </a:t>
            </a:r>
            <a:r>
              <a:rPr lang="en-US" sz="2000" dirty="0">
                <a:latin typeface="Georgia" panose="02040502050405020303" pitchFamily="18" charset="0"/>
              </a:rPr>
              <a:t>Design and </a:t>
            </a:r>
            <a:r>
              <a:rPr lang="en-US" sz="2000" dirty="0" smtClean="0">
                <a:latin typeface="Georgia" panose="02040502050405020303" pitchFamily="18" charset="0"/>
              </a:rPr>
              <a:t>Development</a:t>
            </a:r>
          </a:p>
          <a:p>
            <a:endParaRPr lang="en-US" dirty="0" smtClean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1026" name="Picture 2" descr="Image result for web design and development png"/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8" r="4948"/>
          <a:stretch>
            <a:fillRect/>
          </a:stretch>
        </p:blipFill>
        <p:spPr bwMode="auto">
          <a:xfrm>
            <a:off x="7342010" y="2549909"/>
            <a:ext cx="5210937" cy="4208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91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9766">
        <p:fade/>
      </p:transition>
    </mc:Choice>
    <mc:Fallback xmlns="">
      <p:transition spd="med" advTm="976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/>
          <a:lstStyle/>
          <a:p>
            <a:r>
              <a:rPr lang="en-US" dirty="0" smtClean="0">
                <a:latin typeface="Georgia" panose="02040502050405020303" pitchFamily="18" charset="0"/>
              </a:rPr>
              <a:t>1.Internet  </a:t>
            </a:r>
            <a:br>
              <a:rPr lang="en-US" dirty="0" smtClean="0">
                <a:latin typeface="Georgia" panose="02040502050405020303" pitchFamily="18" charset="0"/>
              </a:rPr>
            </a:br>
            <a:endParaRPr lang="en-US" sz="2400" dirty="0">
              <a:latin typeface="Georgia" panose="02040502050405020303" pitchFamily="18" charset="0"/>
            </a:endParaRPr>
          </a:p>
        </p:txBody>
      </p:sp>
      <p:pic>
        <p:nvPicPr>
          <p:cNvPr id="2050" name="Picture 2" descr="Image result for internet png"/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10" r="1561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961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Discussion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1359568"/>
            <a:ext cx="9982200" cy="4812632"/>
          </a:xfrm>
        </p:spPr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What is  a Network?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What is the Internet? 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A </a:t>
            </a:r>
            <a:r>
              <a:rPr lang="en-US" b="1" dirty="0">
                <a:latin typeface="Georgia" panose="02040502050405020303" pitchFamily="18" charset="0"/>
              </a:rPr>
              <a:t>network</a:t>
            </a:r>
            <a:r>
              <a:rPr lang="en-US" dirty="0">
                <a:latin typeface="Georgia" panose="02040502050405020303" pitchFamily="18" charset="0"/>
              </a:rPr>
              <a:t> is a collection of computers, servers, mainframes, network devices, peripherals, or other </a:t>
            </a:r>
            <a:r>
              <a:rPr lang="en-US" b="1" dirty="0">
                <a:latin typeface="Georgia" panose="02040502050405020303" pitchFamily="18" charset="0"/>
              </a:rPr>
              <a:t>devices connected to one another </a:t>
            </a:r>
            <a:r>
              <a:rPr lang="en-US" dirty="0">
                <a:latin typeface="Georgia" panose="02040502050405020303" pitchFamily="18" charset="0"/>
              </a:rPr>
              <a:t>to allow the sharing of </a:t>
            </a:r>
            <a:r>
              <a:rPr lang="en-US" dirty="0" smtClean="0">
                <a:latin typeface="Georgia" panose="02040502050405020303" pitchFamily="18" charset="0"/>
              </a:rPr>
              <a:t>data</a:t>
            </a:r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E</a:t>
            </a:r>
            <a:r>
              <a:rPr lang="en-US" dirty="0" smtClean="0">
                <a:latin typeface="Georgia" panose="02040502050405020303" pitchFamily="18" charset="0"/>
              </a:rPr>
              <a:t>xcellent </a:t>
            </a:r>
            <a:r>
              <a:rPr lang="en-US" dirty="0">
                <a:latin typeface="Georgia" panose="02040502050405020303" pitchFamily="18" charset="0"/>
              </a:rPr>
              <a:t>example of a network is the </a:t>
            </a:r>
            <a:r>
              <a:rPr lang="en-US" dirty="0">
                <a:latin typeface="Georgia" panose="02040502050405020303" pitchFamily="18" charset="0"/>
                <a:hlinkClick r:id="rId3"/>
              </a:rPr>
              <a:t>Internet</a:t>
            </a:r>
            <a:r>
              <a:rPr lang="en-US" dirty="0">
                <a:latin typeface="Georgia" panose="02040502050405020303" pitchFamily="18" charset="0"/>
              </a:rPr>
              <a:t>, which connects millions of people all over the world. </a:t>
            </a:r>
            <a:endParaRPr lang="en-US" dirty="0" smtClean="0">
              <a:latin typeface="Georgia" panose="02040502050405020303" pitchFamily="18" charset="0"/>
            </a:endParaRPr>
          </a:p>
          <a:p>
            <a:endParaRPr lang="en-US" dirty="0" smtClean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295" y="76200"/>
            <a:ext cx="1612231" cy="129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17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1.What is Internet?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It is the </a:t>
            </a:r>
            <a:r>
              <a:rPr lang="en-US" b="1" dirty="0">
                <a:latin typeface="Georgia" panose="02040502050405020303" pitchFamily="18" charset="0"/>
              </a:rPr>
              <a:t>largest network</a:t>
            </a:r>
            <a:r>
              <a:rPr lang="en-US" dirty="0">
                <a:latin typeface="Georgia" panose="02040502050405020303" pitchFamily="18" charset="0"/>
              </a:rPr>
              <a:t> in the world that </a:t>
            </a:r>
            <a:r>
              <a:rPr lang="en-US" b="1" dirty="0">
                <a:latin typeface="Georgia" panose="02040502050405020303" pitchFamily="18" charset="0"/>
              </a:rPr>
              <a:t>connects</a:t>
            </a:r>
            <a:r>
              <a:rPr lang="en-US" dirty="0">
                <a:latin typeface="Georgia" panose="02040502050405020303" pitchFamily="18" charset="0"/>
              </a:rPr>
              <a:t> hundreds of thousands of individual networks all over the world</a:t>
            </a:r>
            <a:r>
              <a:rPr lang="en-US" dirty="0" smtClean="0">
                <a:latin typeface="Georgia" panose="02040502050405020303" pitchFamily="18" charset="0"/>
              </a:rPr>
              <a:t>.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b="1" dirty="0">
                <a:latin typeface="Georgia" panose="02040502050405020303" pitchFamily="18" charset="0"/>
              </a:rPr>
              <a:t>A means of connecting a computer to any other computer anywhere in the world via dedicated routers and servers</a:t>
            </a:r>
            <a:r>
              <a:rPr lang="en-US" b="1" dirty="0" smtClean="0">
                <a:latin typeface="Georgia" panose="02040502050405020303" pitchFamily="18" charset="0"/>
              </a:rPr>
              <a:t>.</a:t>
            </a:r>
          </a:p>
          <a:p>
            <a:endParaRPr lang="en-US" b="1" dirty="0" smtClean="0">
              <a:latin typeface="Georgia" panose="02040502050405020303" pitchFamily="18" charset="0"/>
            </a:endParaRPr>
          </a:p>
          <a:p>
            <a:r>
              <a:rPr lang="en-US" dirty="0" smtClean="0">
                <a:latin typeface="Georgia" panose="02040502050405020303" pitchFamily="18" charset="0"/>
              </a:rPr>
              <a:t>When </a:t>
            </a:r>
            <a:r>
              <a:rPr lang="en-US" dirty="0">
                <a:latin typeface="Georgia" panose="02040502050405020303" pitchFamily="18" charset="0"/>
              </a:rPr>
              <a:t>two computers are connected over the Internet, they can send and receive all kinds of information such as text, graphics, voice, video, and computer programs.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latin typeface="Georgia" panose="02040502050405020303" pitchFamily="18" charset="0"/>
              </a:rPr>
              <a:t/>
            </a:r>
            <a:br>
              <a:rPr lang="en-US" dirty="0">
                <a:latin typeface="Georgia" panose="02040502050405020303" pitchFamily="18" charset="0"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420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Who owns the internet?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No one</a:t>
            </a:r>
            <a:r>
              <a:rPr lang="en-US" dirty="0" smtClean="0">
                <a:latin typeface="Georgia" panose="02040502050405020303" pitchFamily="18" charset="0"/>
              </a:rPr>
              <a:t>!</a:t>
            </a:r>
          </a:p>
          <a:p>
            <a:r>
              <a:rPr lang="en-US" dirty="0">
                <a:latin typeface="Georgia" panose="02040502050405020303" pitchFamily="18" charset="0"/>
              </a:rPr>
              <a:t>No single person, company, or government owns the </a:t>
            </a:r>
            <a:r>
              <a:rPr lang="en-US" dirty="0" smtClean="0">
                <a:latin typeface="Georgia" panose="02040502050405020303" pitchFamily="18" charset="0"/>
              </a:rPr>
              <a:t>internet.</a:t>
            </a:r>
            <a:endParaRPr lang="en-US" dirty="0" smtClean="0">
              <a:latin typeface="Georgia" panose="02040502050405020303" pitchFamily="18" charset="0"/>
            </a:endParaRPr>
          </a:p>
          <a:p>
            <a:r>
              <a:rPr lang="en-US" dirty="0" smtClean="0">
                <a:latin typeface="Georgia" panose="02040502050405020303" pitchFamily="18" charset="0"/>
              </a:rPr>
              <a:t>Although </a:t>
            </a:r>
            <a:r>
              <a:rPr lang="en-US" dirty="0">
                <a:latin typeface="Georgia" panose="02040502050405020303" pitchFamily="18" charset="0"/>
              </a:rPr>
              <a:t>several </a:t>
            </a:r>
            <a:r>
              <a:rPr lang="en-US" dirty="0" smtClean="0">
                <a:latin typeface="Georgia" panose="02040502050405020303" pitchFamily="18" charset="0"/>
              </a:rPr>
              <a:t>organizations in </a:t>
            </a:r>
            <a:r>
              <a:rPr lang="en-US" dirty="0">
                <a:latin typeface="Georgia" panose="02040502050405020303" pitchFamily="18" charset="0"/>
              </a:rPr>
              <a:t>the world over collaborate in its functioning and development. The high-speed, fiber-optic cables (called backbones) through which the bulk of the Internet data travels are </a:t>
            </a:r>
            <a:r>
              <a:rPr lang="en-US" b="1" dirty="0">
                <a:latin typeface="Georgia" panose="02040502050405020303" pitchFamily="18" charset="0"/>
              </a:rPr>
              <a:t>owned by telephone companies </a:t>
            </a:r>
            <a:r>
              <a:rPr lang="en-US" dirty="0">
                <a:latin typeface="Georgia" panose="02040502050405020303" pitchFamily="18" charset="0"/>
              </a:rPr>
              <a:t>in their respective countries</a:t>
            </a:r>
            <a:r>
              <a:rPr lang="en-US" dirty="0"/>
              <a:t>.</a:t>
            </a:r>
            <a:br>
              <a:rPr lang="en-US" dirty="0"/>
            </a:b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25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1.Internet…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1600200"/>
            <a:ext cx="5909511" cy="457200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An Internet is a </a:t>
            </a:r>
            <a:r>
              <a:rPr lang="en-US" b="1" dirty="0">
                <a:latin typeface="Georgia" panose="02040502050405020303" pitchFamily="18" charset="0"/>
              </a:rPr>
              <a:t>global network of networks</a:t>
            </a:r>
            <a:r>
              <a:rPr lang="en-US" b="1" dirty="0" smtClean="0">
                <a:latin typeface="Georgia" panose="02040502050405020303" pitchFamily="18" charset="0"/>
              </a:rPr>
              <a:t>.</a:t>
            </a:r>
          </a:p>
          <a:p>
            <a:r>
              <a:rPr lang="en-US" b="1" dirty="0" smtClean="0">
                <a:latin typeface="Georgia" panose="02040502050405020303" pitchFamily="18" charset="0"/>
              </a:rPr>
              <a:t>The internet </a:t>
            </a:r>
            <a:r>
              <a:rPr lang="en-US" dirty="0" smtClean="0">
                <a:latin typeface="Georgia" panose="02040502050405020303" pitchFamily="18" charset="0"/>
              </a:rPr>
              <a:t>is made up of independently operated networks(Fully distributed) and there is no central control which decides how packets(data) are routed, who connects with whom etc..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All  business decisions are made independently by the operators.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410" y="1287379"/>
            <a:ext cx="5177589" cy="565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41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1.Internet…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1600200"/>
            <a:ext cx="6198268" cy="4572000"/>
          </a:xfrm>
        </p:spPr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The utility of the internet </a:t>
            </a:r>
            <a:r>
              <a:rPr lang="en-US" b="1" dirty="0" smtClean="0">
                <a:latin typeface="Georgia" panose="02040502050405020303" pitchFamily="18" charset="0"/>
              </a:rPr>
              <a:t>is any device can connect to any device</a:t>
            </a:r>
            <a:r>
              <a:rPr lang="en-US" dirty="0" smtClean="0">
                <a:latin typeface="Georgia" panose="02040502050405020303" pitchFamily="18" charset="0"/>
              </a:rPr>
              <a:t> ,just like you want to make a phone calls to any other telephone in the world.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It </a:t>
            </a:r>
            <a:r>
              <a:rPr lang="en-US" dirty="0">
                <a:latin typeface="Georgia" panose="02040502050405020303" pitchFamily="18" charset="0"/>
              </a:rPr>
              <a:t>was originally developed by the Department of defense, this lack of centralization made it </a:t>
            </a:r>
            <a:r>
              <a:rPr lang="en-US" b="1" dirty="0">
                <a:latin typeface="Georgia" panose="02040502050405020303" pitchFamily="18" charset="0"/>
              </a:rPr>
              <a:t>less vulnerable to wartime or terrorist attacks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  <a:p>
            <a:r>
              <a:rPr lang="en-US" dirty="0">
                <a:latin typeface="Georgia" panose="02040502050405020303" pitchFamily="18" charset="0"/>
              </a:rPr>
              <a:t>Everyone will find that they use the internet in one way or another whether it is to research some information of simply talk to friends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168" y="1299411"/>
            <a:ext cx="4888831" cy="555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999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eorgia" panose="02040502050405020303" pitchFamily="18" charset="0"/>
              </a:rPr>
              <a:t>What does the Internet do?</a:t>
            </a:r>
            <a:br>
              <a:rPr lang="en-US" b="1" dirty="0">
                <a:latin typeface="Georgia" panose="02040502050405020303" pitchFamily="18" charset="0"/>
              </a:rPr>
            </a:b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The Internet has one very simple job: </a:t>
            </a:r>
            <a:r>
              <a:rPr lang="en-US" b="1" dirty="0">
                <a:latin typeface="Georgia" panose="02040502050405020303" pitchFamily="18" charset="0"/>
              </a:rPr>
              <a:t>to move computerized information (known as data) from one place to another. That's it</a:t>
            </a:r>
            <a:r>
              <a:rPr lang="en-US" b="1" dirty="0" smtClean="0">
                <a:latin typeface="Georgia" panose="02040502050405020303" pitchFamily="18" charset="0"/>
              </a:rPr>
              <a:t>!</a:t>
            </a:r>
          </a:p>
          <a:p>
            <a:r>
              <a:rPr lang="en-US" dirty="0">
                <a:latin typeface="Georgia" panose="02040502050405020303" pitchFamily="18" charset="0"/>
              </a:rPr>
              <a:t>The machines that make up the Internet treat all the information they handle in exactly the same way</a:t>
            </a:r>
            <a:r>
              <a:rPr lang="en-US" dirty="0" smtClean="0">
                <a:latin typeface="Georgia" panose="02040502050405020303" pitchFamily="18" charset="0"/>
              </a:rPr>
              <a:t>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 In </a:t>
            </a:r>
            <a:r>
              <a:rPr lang="en-US" dirty="0">
                <a:latin typeface="Georgia" panose="02040502050405020303" pitchFamily="18" charset="0"/>
              </a:rPr>
              <a:t>this respect, the Internet works a bit like </a:t>
            </a:r>
            <a:r>
              <a:rPr lang="en-US" b="1" dirty="0">
                <a:latin typeface="Georgia" panose="02040502050405020303" pitchFamily="18" charset="0"/>
              </a:rPr>
              <a:t>the postal service</a:t>
            </a:r>
            <a:r>
              <a:rPr lang="en-US" dirty="0">
                <a:latin typeface="Georgia" panose="02040502050405020303" pitchFamily="18" charset="0"/>
              </a:rPr>
              <a:t>. Letters are simply passed from one place to another, no matter who they are from or what messages they </a:t>
            </a:r>
            <a:r>
              <a:rPr lang="en-US" dirty="0" smtClean="0">
                <a:latin typeface="Georgia" panose="02040502050405020303" pitchFamily="18" charset="0"/>
              </a:rPr>
              <a:t>contain</a:t>
            </a:r>
          </a:p>
        </p:txBody>
      </p:sp>
    </p:spTree>
    <p:extLst>
      <p:ext uri="{BB962C8B-B14F-4D97-AF65-F5344CB8AC3E}">
        <p14:creationId xmlns:p14="http://schemas.microsoft.com/office/powerpoint/2010/main" val="401278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eorgia" panose="02040502050405020303" pitchFamily="18" charset="0"/>
              </a:rPr>
              <a:t>What does the Internet do?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All information is handled equally and passed on in exactly the same way. Because the Internet is </a:t>
            </a:r>
            <a:r>
              <a:rPr lang="en-US" b="1" dirty="0">
                <a:latin typeface="Georgia" panose="02040502050405020303" pitchFamily="18" charset="0"/>
              </a:rPr>
              <a:t>so simply designed</a:t>
            </a:r>
            <a:r>
              <a:rPr lang="en-US" dirty="0">
                <a:latin typeface="Georgia" panose="02040502050405020303" pitchFamily="18" charset="0"/>
              </a:rPr>
              <a:t>, people can easily use it to run new "applications"—new things that run on top of the basic computer network. </a:t>
            </a:r>
          </a:p>
          <a:p>
            <a:r>
              <a:rPr lang="en-US" dirty="0">
                <a:latin typeface="Georgia" panose="02040502050405020303" pitchFamily="18" charset="0"/>
              </a:rPr>
              <a:t>That's why, when two European inventors developed </a:t>
            </a:r>
            <a:r>
              <a:rPr lang="en-US" dirty="0">
                <a:latin typeface="Georgia" panose="02040502050405020303" pitchFamily="18" charset="0"/>
                <a:hlinkClick r:id="rId2"/>
              </a:rPr>
              <a:t>Skype</a:t>
            </a:r>
            <a:r>
              <a:rPr lang="en-US" dirty="0">
                <a:latin typeface="Georgia" panose="02040502050405020303" pitchFamily="18" charset="0"/>
              </a:rPr>
              <a:t>, a way of making telephone calls over the Net, they just had to write a program that could turn speech into Internet data and back again. </a:t>
            </a:r>
            <a:r>
              <a:rPr lang="en-US" b="1" dirty="0">
                <a:latin typeface="Georgia" panose="02040502050405020303" pitchFamily="18" charset="0"/>
              </a:rPr>
              <a:t>No-one had to rebuild </a:t>
            </a:r>
            <a:r>
              <a:rPr lang="en-US" dirty="0">
                <a:latin typeface="Georgia" panose="02040502050405020303" pitchFamily="18" charset="0"/>
              </a:rPr>
              <a:t>the entire Internet to make Skype possible.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64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Why it is used?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The Internet is used for many different things such as:</a:t>
            </a:r>
          </a:p>
          <a:p>
            <a:pPr lvl="1"/>
            <a:r>
              <a:rPr lang="en-US" b="1" dirty="0">
                <a:latin typeface="Georgia" panose="02040502050405020303" pitchFamily="18" charset="0"/>
              </a:rPr>
              <a:t>Talking to friends</a:t>
            </a:r>
            <a:r>
              <a:rPr lang="en-US" dirty="0">
                <a:latin typeface="Georgia" panose="02040502050405020303" pitchFamily="18" charset="0"/>
              </a:rPr>
              <a:t> – using programs such as Skype and </a:t>
            </a:r>
            <a:r>
              <a:rPr lang="en-US" dirty="0" err="1">
                <a:latin typeface="Georgia" panose="02040502050405020303" pitchFamily="18" charset="0"/>
              </a:rPr>
              <a:t>Viber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  <a:p>
            <a:pPr lvl="1"/>
            <a:r>
              <a:rPr lang="en-US" b="1" dirty="0">
                <a:latin typeface="Georgia" panose="02040502050405020303" pitchFamily="18" charset="0"/>
              </a:rPr>
              <a:t>Online shopping</a:t>
            </a:r>
            <a:r>
              <a:rPr lang="en-US" dirty="0">
                <a:latin typeface="Georgia" panose="02040502050405020303" pitchFamily="18" charset="0"/>
              </a:rPr>
              <a:t> – buying items from the internet without leaving your home using sites such as </a:t>
            </a:r>
            <a:r>
              <a:rPr lang="en-US" dirty="0">
                <a:latin typeface="Georgia" panose="02040502050405020303" pitchFamily="18" charset="0"/>
                <a:hlinkClick r:id="rId2"/>
              </a:rPr>
              <a:t>www.ebay.com</a:t>
            </a:r>
            <a:endParaRPr lang="en-US" dirty="0">
              <a:latin typeface="Georgia" panose="02040502050405020303" pitchFamily="18" charset="0"/>
            </a:endParaRPr>
          </a:p>
          <a:p>
            <a:pPr lvl="1"/>
            <a:r>
              <a:rPr lang="en-US" b="1" dirty="0">
                <a:latin typeface="Georgia" panose="02040502050405020303" pitchFamily="18" charset="0"/>
              </a:rPr>
              <a:t>Watching Videos</a:t>
            </a:r>
            <a:r>
              <a:rPr lang="en-US" dirty="0">
                <a:latin typeface="Georgia" panose="02040502050405020303" pitchFamily="18" charset="0"/>
              </a:rPr>
              <a:t> – using websites such as </a:t>
            </a:r>
            <a:r>
              <a:rPr lang="en-US" dirty="0">
                <a:latin typeface="Georgia" panose="02040502050405020303" pitchFamily="18" charset="0"/>
                <a:hlinkClick r:id="rId3"/>
              </a:rPr>
              <a:t>www.youtube.com</a:t>
            </a:r>
            <a:endParaRPr lang="en-US" dirty="0">
              <a:latin typeface="Georgia" panose="02040502050405020303" pitchFamily="18" charset="0"/>
            </a:endParaRPr>
          </a:p>
          <a:p>
            <a:pPr lvl="1"/>
            <a:r>
              <a:rPr lang="en-US" b="1" dirty="0">
                <a:latin typeface="Georgia" panose="02040502050405020303" pitchFamily="18" charset="0"/>
              </a:rPr>
              <a:t>Research</a:t>
            </a:r>
            <a:r>
              <a:rPr lang="en-US" dirty="0">
                <a:latin typeface="Georgia" panose="02040502050405020303" pitchFamily="18" charset="0"/>
              </a:rPr>
              <a:t> – using search engines such as </a:t>
            </a:r>
            <a:r>
              <a:rPr lang="en-US" dirty="0">
                <a:latin typeface="Georgia" panose="02040502050405020303" pitchFamily="18" charset="0"/>
                <a:hlinkClick r:id="rId4"/>
              </a:rPr>
              <a:t>www.google.com</a:t>
            </a:r>
            <a:endParaRPr lang="en-US" dirty="0">
              <a:latin typeface="Georgia" panose="02040502050405020303" pitchFamily="18" charset="0"/>
            </a:endParaRPr>
          </a:p>
          <a:p>
            <a:pPr lvl="1"/>
            <a:r>
              <a:rPr lang="en-US" b="1" dirty="0">
                <a:latin typeface="Georgia" panose="02040502050405020303" pitchFamily="18" charset="0"/>
              </a:rPr>
              <a:t>Downloading/listening to music</a:t>
            </a:r>
            <a:r>
              <a:rPr lang="en-US" dirty="0">
                <a:latin typeface="Georgia" panose="02040502050405020303" pitchFamily="18" charset="0"/>
              </a:rPr>
              <a:t> – using programs such as lime wire or sites such as </a:t>
            </a:r>
            <a:r>
              <a:rPr lang="en-US" dirty="0">
                <a:latin typeface="Georgia" panose="02040502050405020303" pitchFamily="18" charset="0"/>
                <a:hlinkClick r:id="rId5"/>
              </a:rPr>
              <a:t>www.ituens.com</a:t>
            </a:r>
            <a:endParaRPr lang="en-US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69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Audience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Georgia" panose="02040502050405020303" pitchFamily="18" charset="0"/>
              </a:rPr>
              <a:t>The intended audience for the internet is </a:t>
            </a:r>
            <a:r>
              <a:rPr lang="en-US" b="1" dirty="0" smtClean="0">
                <a:latin typeface="Georgia" panose="02040502050405020303" pitchFamily="18" charset="0"/>
              </a:rPr>
              <a:t>anyone and everyone</a:t>
            </a:r>
            <a:r>
              <a:rPr lang="en-US" dirty="0" smtClean="0">
                <a:latin typeface="Georgia" panose="02040502050405020303" pitchFamily="18" charset="0"/>
              </a:rPr>
              <a:t> in the world who has access to a computer, there is no limit to the information that can be found on the internet.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The internet is used widely by the audience, mostly it used for </a:t>
            </a:r>
            <a:r>
              <a:rPr lang="en-US" b="1" dirty="0" smtClean="0">
                <a:latin typeface="Georgia" panose="02040502050405020303" pitchFamily="18" charset="0"/>
              </a:rPr>
              <a:t>researching subjects and talking online</a:t>
            </a:r>
            <a:r>
              <a:rPr lang="en-US" dirty="0" smtClean="0">
                <a:latin typeface="Georgia" panose="02040502050405020303" pitchFamily="18" charset="0"/>
              </a:rPr>
              <a:t>. However it has many other uses, one advantage of the internet is that it can be used for </a:t>
            </a:r>
            <a:r>
              <a:rPr lang="en-US" b="1" dirty="0" smtClean="0">
                <a:latin typeface="Georgia" panose="02040502050405020303" pitchFamily="18" charset="0"/>
              </a:rPr>
              <a:t>advertising products and companies</a:t>
            </a:r>
            <a:r>
              <a:rPr lang="en-US" dirty="0" smtClean="0">
                <a:latin typeface="Georgia" panose="02040502050405020303" pitchFamily="18" charset="0"/>
              </a:rPr>
              <a:t>. If you put an advert for a product on a site that is visited regularly it will become more popular.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The audience uses the internet for personal use to make their </a:t>
            </a:r>
            <a:r>
              <a:rPr lang="en-US" b="1" dirty="0" smtClean="0">
                <a:latin typeface="Georgia" panose="02040502050405020303" pitchFamily="18" charset="0"/>
              </a:rPr>
              <a:t>life easier and faster</a:t>
            </a:r>
            <a:r>
              <a:rPr lang="en-US" dirty="0" smtClean="0">
                <a:latin typeface="Georgia" panose="02040502050405020303" pitchFamily="18" charset="0"/>
              </a:rPr>
              <a:t>. The internet can enable the audience to find information within minutes and also allows them to talk to people all over the world wherever they are.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587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How does it affect the audience?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Georgia" panose="02040502050405020303" pitchFamily="18" charset="0"/>
              </a:rPr>
              <a:t>It affects the audience in a good way because it </a:t>
            </a:r>
            <a:r>
              <a:rPr lang="en-US" b="1" dirty="0" smtClean="0">
                <a:latin typeface="Georgia" panose="02040502050405020303" pitchFamily="18" charset="0"/>
              </a:rPr>
              <a:t>makes their lives easier</a:t>
            </a:r>
            <a:r>
              <a:rPr lang="en-US" dirty="0" smtClean="0">
                <a:latin typeface="Georgia" panose="02040502050405020303" pitchFamily="18" charset="0"/>
              </a:rPr>
              <a:t> and </a:t>
            </a:r>
            <a:r>
              <a:rPr lang="en-US" b="1" dirty="0" smtClean="0">
                <a:latin typeface="Georgia" panose="02040502050405020303" pitchFamily="18" charset="0"/>
              </a:rPr>
              <a:t>less problematic</a:t>
            </a:r>
            <a:r>
              <a:rPr lang="en-US" dirty="0" smtClean="0">
                <a:latin typeface="Georgia" panose="02040502050405020303" pitchFamily="18" charset="0"/>
              </a:rPr>
              <a:t>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It enables them to </a:t>
            </a:r>
            <a:r>
              <a:rPr lang="en-US" b="1" dirty="0" smtClean="0">
                <a:latin typeface="Georgia" panose="02040502050405020303" pitchFamily="18" charset="0"/>
              </a:rPr>
              <a:t>do well in school</a:t>
            </a:r>
            <a:r>
              <a:rPr lang="en-US" dirty="0" smtClean="0">
                <a:latin typeface="Georgia" panose="02040502050405020303" pitchFamily="18" charset="0"/>
              </a:rPr>
              <a:t> and in work as they can </a:t>
            </a:r>
            <a:r>
              <a:rPr lang="en-US" b="1" dirty="0" smtClean="0">
                <a:latin typeface="Georgia" panose="02040502050405020303" pitchFamily="18" charset="0"/>
              </a:rPr>
              <a:t>access information and advice</a:t>
            </a:r>
            <a:r>
              <a:rPr lang="en-US" dirty="0" smtClean="0">
                <a:latin typeface="Georgia" panose="02040502050405020303" pitchFamily="18" charset="0"/>
              </a:rPr>
              <a:t> easily.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However it can also change a person in the </a:t>
            </a:r>
            <a:r>
              <a:rPr lang="en-US" b="1" dirty="0" smtClean="0">
                <a:latin typeface="Georgia" panose="02040502050405020303" pitchFamily="18" charset="0"/>
              </a:rPr>
              <a:t>way they think</a:t>
            </a:r>
            <a:r>
              <a:rPr lang="en-US" dirty="0" smtClean="0">
                <a:latin typeface="Georgia" panose="02040502050405020303" pitchFamily="18" charset="0"/>
              </a:rPr>
              <a:t> and their lives in general, as the internet allows them to access anything from anywhere in the world and this isn’t always a good thing as extreme violence and other bad behaviors are promoted.</a:t>
            </a:r>
          </a:p>
        </p:txBody>
      </p:sp>
    </p:spTree>
    <p:extLst>
      <p:ext uri="{BB962C8B-B14F-4D97-AF65-F5344CB8AC3E}">
        <p14:creationId xmlns:p14="http://schemas.microsoft.com/office/powerpoint/2010/main" val="1778173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Advantages and Disadvantages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Georgia" panose="02040502050405020303" pitchFamily="18" charset="0"/>
              </a:rPr>
              <a:t>The internet has many more advantages than it does disadvantages according to researches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Advantages:</a:t>
            </a:r>
          </a:p>
          <a:p>
            <a:pPr lvl="1"/>
            <a:r>
              <a:rPr lang="en-US" dirty="0" smtClean="0">
                <a:latin typeface="Georgia" panose="02040502050405020303" pitchFamily="18" charset="0"/>
              </a:rPr>
              <a:t>Allows </a:t>
            </a:r>
            <a:r>
              <a:rPr lang="en-US" b="1" dirty="0" smtClean="0">
                <a:latin typeface="Georgia" panose="02040502050405020303" pitchFamily="18" charset="0"/>
              </a:rPr>
              <a:t>easy and quick access</a:t>
            </a:r>
            <a:r>
              <a:rPr lang="en-US" dirty="0" smtClean="0">
                <a:latin typeface="Georgia" panose="02040502050405020303" pitchFamily="18" charset="0"/>
              </a:rPr>
              <a:t> to information</a:t>
            </a:r>
          </a:p>
          <a:p>
            <a:pPr lvl="1"/>
            <a:r>
              <a:rPr lang="en-US" dirty="0" smtClean="0">
                <a:latin typeface="Georgia" panose="02040502050405020303" pitchFamily="18" charset="0"/>
              </a:rPr>
              <a:t>Enables user to access files and information from </a:t>
            </a:r>
            <a:r>
              <a:rPr lang="en-US" b="1" dirty="0" smtClean="0">
                <a:latin typeface="Georgia" panose="02040502050405020303" pitchFamily="18" charset="0"/>
              </a:rPr>
              <a:t>any computer,</a:t>
            </a:r>
            <a:r>
              <a:rPr lang="en-US" dirty="0" smtClean="0">
                <a:latin typeface="Georgia" panose="02040502050405020303" pitchFamily="18" charset="0"/>
              </a:rPr>
              <a:t> </a:t>
            </a:r>
            <a:r>
              <a:rPr lang="en-US" b="1" dirty="0" smtClean="0">
                <a:latin typeface="Georgia" panose="02040502050405020303" pitchFamily="18" charset="0"/>
              </a:rPr>
              <a:t>anywhere</a:t>
            </a:r>
            <a:r>
              <a:rPr lang="en-US" dirty="0" smtClean="0">
                <a:latin typeface="Georgia" panose="02040502050405020303" pitchFamily="18" charset="0"/>
              </a:rPr>
              <a:t> </a:t>
            </a:r>
            <a:r>
              <a:rPr lang="en-US" b="1" dirty="0" smtClean="0">
                <a:latin typeface="Georgia" panose="02040502050405020303" pitchFamily="18" charset="0"/>
              </a:rPr>
              <a:t>in the world</a:t>
            </a:r>
          </a:p>
          <a:p>
            <a:pPr lvl="1"/>
            <a:r>
              <a:rPr lang="en-US" dirty="0" smtClean="0">
                <a:latin typeface="Georgia" panose="02040502050405020303" pitchFamily="18" charset="0"/>
              </a:rPr>
              <a:t>People can check financial information, purchase products, talk to people and much more online</a:t>
            </a:r>
          </a:p>
          <a:p>
            <a:pPr lvl="1"/>
            <a:r>
              <a:rPr lang="en-US" b="1" dirty="0" smtClean="0">
                <a:latin typeface="Georgia" panose="02040502050405020303" pitchFamily="18" charset="0"/>
              </a:rPr>
              <a:t>Downloading music</a:t>
            </a:r>
            <a:r>
              <a:rPr lang="en-US" dirty="0" smtClean="0">
                <a:latin typeface="Georgia" panose="02040502050405020303" pitchFamily="18" charset="0"/>
              </a:rPr>
              <a:t> – quick and easy</a:t>
            </a:r>
          </a:p>
          <a:p>
            <a:pPr lvl="1"/>
            <a:r>
              <a:rPr lang="en-US" dirty="0" smtClean="0">
                <a:latin typeface="Georgia" panose="02040502050405020303" pitchFamily="18" charset="0"/>
              </a:rPr>
              <a:t>User can send information quickly form computer to computer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82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Advantages and Disadvantages…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Georgia" panose="02040502050405020303" pitchFamily="18" charset="0"/>
              </a:rPr>
              <a:t>Advantages:</a:t>
            </a:r>
          </a:p>
          <a:p>
            <a:pPr lvl="1"/>
            <a:r>
              <a:rPr lang="en-US" dirty="0" smtClean="0">
                <a:latin typeface="Georgia" panose="02040502050405020303" pitchFamily="18" charset="0"/>
              </a:rPr>
              <a:t>E-Mail</a:t>
            </a:r>
          </a:p>
          <a:p>
            <a:pPr lvl="1"/>
            <a:r>
              <a:rPr lang="en-US" dirty="0" smtClean="0">
                <a:latin typeface="Georgia" panose="02040502050405020303" pitchFamily="18" charset="0"/>
              </a:rPr>
              <a:t>Voice and Video Conferencing</a:t>
            </a:r>
          </a:p>
          <a:p>
            <a:pPr lvl="1"/>
            <a:r>
              <a:rPr lang="en-US" dirty="0" smtClean="0">
                <a:latin typeface="Georgia" panose="02040502050405020303" pitchFamily="18" charset="0"/>
              </a:rPr>
              <a:t>E-Commerce</a:t>
            </a:r>
          </a:p>
          <a:p>
            <a:pPr lvl="1"/>
            <a:r>
              <a:rPr lang="en-US" dirty="0" smtClean="0">
                <a:latin typeface="Georgia" panose="02040502050405020303" pitchFamily="18" charset="0"/>
              </a:rPr>
              <a:t>Information browsing</a:t>
            </a:r>
          </a:p>
          <a:p>
            <a:pPr lvl="1"/>
            <a:r>
              <a:rPr lang="en-US" dirty="0" smtClean="0">
                <a:latin typeface="Georgia" panose="02040502050405020303" pitchFamily="18" charset="0"/>
              </a:rPr>
              <a:t>Search the web addresses for access through search engine</a:t>
            </a:r>
          </a:p>
          <a:p>
            <a:pPr lvl="1"/>
            <a:r>
              <a:rPr lang="en-US" dirty="0" smtClean="0">
                <a:latin typeface="Georgia" panose="02040502050405020303" pitchFamily="18" charset="0"/>
              </a:rPr>
              <a:t>Chatting and many more…</a:t>
            </a:r>
          </a:p>
        </p:txBody>
      </p:sp>
    </p:spTree>
    <p:extLst>
      <p:ext uri="{BB962C8B-B14F-4D97-AF65-F5344CB8AC3E}">
        <p14:creationId xmlns:p14="http://schemas.microsoft.com/office/powerpoint/2010/main" val="144073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Advantages and Disadvantages…	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Disadvantages:-</a:t>
            </a:r>
          </a:p>
          <a:p>
            <a:endParaRPr lang="en-US" dirty="0" smtClean="0">
              <a:latin typeface="Georgia" panose="02040502050405020303" pitchFamily="18" charset="0"/>
            </a:endParaRPr>
          </a:p>
          <a:p>
            <a:pPr lvl="1"/>
            <a:r>
              <a:rPr lang="en-US" dirty="0" smtClean="0">
                <a:latin typeface="Georgia" panose="02040502050405020303" pitchFamily="18" charset="0"/>
              </a:rPr>
              <a:t>It </a:t>
            </a:r>
            <a:r>
              <a:rPr lang="en-US" b="1" dirty="0" smtClean="0">
                <a:latin typeface="Georgia" panose="02040502050405020303" pitchFamily="18" charset="0"/>
              </a:rPr>
              <a:t>promotes violence</a:t>
            </a:r>
            <a:r>
              <a:rPr lang="en-US" dirty="0" smtClean="0">
                <a:latin typeface="Georgia" panose="02040502050405020303" pitchFamily="18" charset="0"/>
              </a:rPr>
              <a:t> and </a:t>
            </a:r>
            <a:r>
              <a:rPr lang="en-US" b="1" dirty="0" smtClean="0">
                <a:latin typeface="Georgia" panose="02040502050405020303" pitchFamily="18" charset="0"/>
              </a:rPr>
              <a:t>bad behavior</a:t>
            </a:r>
            <a:r>
              <a:rPr lang="en-US" dirty="0" smtClean="0">
                <a:latin typeface="Georgia" panose="02040502050405020303" pitchFamily="18" charset="0"/>
              </a:rPr>
              <a:t> within society, as it contains violent videos and other disturbing images.</a:t>
            </a:r>
          </a:p>
          <a:p>
            <a:pPr lvl="1"/>
            <a:r>
              <a:rPr lang="en-US" dirty="0" smtClean="0">
                <a:latin typeface="Georgia" panose="02040502050405020303" pitchFamily="18" charset="0"/>
              </a:rPr>
              <a:t>It can encourage </a:t>
            </a:r>
            <a:r>
              <a:rPr lang="en-US" b="1" dirty="0" smtClean="0">
                <a:latin typeface="Georgia" panose="02040502050405020303" pitchFamily="18" charset="0"/>
              </a:rPr>
              <a:t>negative activities</a:t>
            </a:r>
            <a:r>
              <a:rPr lang="en-US" dirty="0" smtClean="0">
                <a:latin typeface="Georgia" panose="02040502050405020303" pitchFamily="18" charset="0"/>
              </a:rPr>
              <a:t> such as pornography and pedophilia, these things can now be explored more openly due to internet</a:t>
            </a:r>
          </a:p>
          <a:p>
            <a:pPr lvl="1"/>
            <a:r>
              <a:rPr lang="en-US" dirty="0" smtClean="0">
                <a:latin typeface="Georgia" panose="02040502050405020303" pitchFamily="18" charset="0"/>
              </a:rPr>
              <a:t>It stops children from going out, as they wish to stay home and use the internet to talk to friends etc.</a:t>
            </a:r>
          </a:p>
          <a:p>
            <a:pPr lvl="1"/>
            <a:r>
              <a:rPr lang="en-US" b="1" dirty="0" smtClean="0">
                <a:latin typeface="Georgia" panose="02040502050405020303" pitchFamily="18" charset="0"/>
              </a:rPr>
              <a:t>Theft</a:t>
            </a:r>
            <a:r>
              <a:rPr lang="en-US" dirty="0" smtClean="0">
                <a:latin typeface="Georgia" panose="02040502050405020303" pitchFamily="18" charset="0"/>
              </a:rPr>
              <a:t> </a:t>
            </a:r>
            <a:r>
              <a:rPr lang="en-US" b="1" dirty="0" smtClean="0">
                <a:latin typeface="Georgia" panose="02040502050405020303" pitchFamily="18" charset="0"/>
              </a:rPr>
              <a:t>of</a:t>
            </a:r>
            <a:r>
              <a:rPr lang="en-US" dirty="0" smtClean="0">
                <a:latin typeface="Georgia" panose="02040502050405020303" pitchFamily="18" charset="0"/>
              </a:rPr>
              <a:t> </a:t>
            </a:r>
            <a:r>
              <a:rPr lang="en-US" b="1" dirty="0" smtClean="0">
                <a:latin typeface="Georgia" panose="02040502050405020303" pitchFamily="18" charset="0"/>
              </a:rPr>
              <a:t>personal</a:t>
            </a:r>
            <a:r>
              <a:rPr lang="en-US" dirty="0" smtClean="0">
                <a:latin typeface="Georgia" panose="02040502050405020303" pitchFamily="18" charset="0"/>
              </a:rPr>
              <a:t> </a:t>
            </a:r>
            <a:r>
              <a:rPr lang="en-US" b="1" dirty="0" smtClean="0">
                <a:latin typeface="Georgia" panose="02040502050405020303" pitchFamily="18" charset="0"/>
              </a:rPr>
              <a:t>information</a:t>
            </a:r>
            <a:r>
              <a:rPr lang="en-US" dirty="0" smtClean="0">
                <a:latin typeface="Georgia" panose="02040502050405020303" pitchFamily="18" charset="0"/>
              </a:rPr>
              <a:t> such as name, address, credit card number etc.</a:t>
            </a:r>
          </a:p>
          <a:p>
            <a:pPr lvl="1"/>
            <a:r>
              <a:rPr lang="en-US" b="1" dirty="0" smtClean="0">
                <a:latin typeface="Georgia" panose="02040502050405020303" pitchFamily="18" charset="0"/>
              </a:rPr>
              <a:t>Virus</a:t>
            </a:r>
            <a:r>
              <a:rPr lang="en-US" dirty="0" smtClean="0">
                <a:latin typeface="Georgia" panose="02040502050405020303" pitchFamily="18" charset="0"/>
              </a:rPr>
              <a:t> </a:t>
            </a:r>
            <a:r>
              <a:rPr lang="en-US" b="1" dirty="0" smtClean="0">
                <a:latin typeface="Georgia" panose="02040502050405020303" pitchFamily="18" charset="0"/>
              </a:rPr>
              <a:t>threats -</a:t>
            </a:r>
            <a:r>
              <a:rPr lang="en-US" dirty="0" smtClean="0">
                <a:latin typeface="Georgia" panose="02040502050405020303" pitchFamily="18" charset="0"/>
              </a:rPr>
              <a:t> nothing but a program which disrupts the normal functioning of your system.</a:t>
            </a:r>
          </a:p>
          <a:p>
            <a:pPr lvl="1"/>
            <a:r>
              <a:rPr lang="en-US" b="1" dirty="0" smtClean="0">
                <a:latin typeface="Georgia" panose="02040502050405020303" pitchFamily="18" charset="0"/>
              </a:rPr>
              <a:t>Spamming -</a:t>
            </a:r>
            <a:r>
              <a:rPr lang="en-US" dirty="0" smtClean="0">
                <a:latin typeface="Georgia" panose="02040502050405020303" pitchFamily="18" charset="0"/>
              </a:rPr>
              <a:t> refers to receiving unwanted e-mails in bulk, which provide no purpose and needlessly obstruct the entire system.</a:t>
            </a:r>
          </a:p>
        </p:txBody>
      </p:sp>
    </p:spTree>
    <p:extLst>
      <p:ext uri="{BB962C8B-B14F-4D97-AF65-F5344CB8AC3E}">
        <p14:creationId xmlns:p14="http://schemas.microsoft.com/office/powerpoint/2010/main" val="173201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22020" y="617121"/>
            <a:ext cx="7772400" cy="60960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How to access the Internet?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38795" y="1781298"/>
            <a:ext cx="9262753" cy="40099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Georgia" panose="02040502050405020303" pitchFamily="18" charset="0"/>
              </a:rPr>
              <a:t>To access the Internet, an existing network need to pay a small registration fee and agree to certain standards based on the TCP/IP (Transmission Control Protocol/Internet Protocol) reference model.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eorgia" panose="02040502050405020303" pitchFamily="18" charset="0"/>
              </a:rPr>
              <a:t>Each organization pays for its own networks and its own telephone bills, but those costs usually exist independent of the internet.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eorgia" panose="02040502050405020303" pitchFamily="18" charset="0"/>
              </a:rPr>
              <a:t>The regional Internet companies route and forward all traffic, and the cost is still only that of a local telephone call.</a:t>
            </a:r>
          </a:p>
          <a:p>
            <a:pPr>
              <a:lnSpc>
                <a:spcPct val="90000"/>
              </a:lnSpc>
            </a:pPr>
            <a:endParaRPr lang="en-US" sz="2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19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25582" y="570411"/>
            <a:ext cx="7772400" cy="53340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How to access the Internet?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53787" y="1447800"/>
            <a:ext cx="9797143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latin typeface="Georgia" panose="02040502050405020303" pitchFamily="18" charset="0"/>
              </a:rPr>
              <a:t>Many schools and businesses have direct access to the Internet using special high-speed communication lines and equipment.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eorgia" panose="02040502050405020303" pitchFamily="18" charset="0"/>
              </a:rPr>
              <a:t>Students and employees can access through the organization’s local area networks (LAN) or through their own personal computers.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eorgia" panose="02040502050405020303" pitchFamily="18" charset="0"/>
              </a:rPr>
              <a:t>Another way to access the Internet is through </a:t>
            </a:r>
            <a:r>
              <a:rPr lang="en-US" b="1" dirty="0">
                <a:latin typeface="Georgia" panose="02040502050405020303" pitchFamily="18" charset="0"/>
              </a:rPr>
              <a:t>Internet Service Provider (ISP).</a:t>
            </a:r>
          </a:p>
        </p:txBody>
      </p:sp>
    </p:spTree>
    <p:extLst>
      <p:ext uri="{BB962C8B-B14F-4D97-AF65-F5344CB8AC3E}">
        <p14:creationId xmlns:p14="http://schemas.microsoft.com/office/powerpoint/2010/main" val="2706566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21080" y="394063"/>
            <a:ext cx="7772400" cy="68580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Internet Service Provider (ISP)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2541" y="1752600"/>
            <a:ext cx="9524010" cy="381000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A  commercial organization with permanent connection to the Internet that sells temporary connections to subscribers.</a:t>
            </a:r>
          </a:p>
          <a:p>
            <a:r>
              <a:rPr lang="en-US" dirty="0">
                <a:latin typeface="Georgia" panose="02040502050405020303" pitchFamily="18" charset="0"/>
              </a:rPr>
              <a:t>Examples:</a:t>
            </a:r>
          </a:p>
          <a:p>
            <a:pPr marL="0" indent="0">
              <a:buNone/>
            </a:pPr>
            <a:r>
              <a:rPr lang="en-US" dirty="0" err="1" smtClean="0">
                <a:latin typeface="Georgia" panose="02040502050405020303" pitchFamily="18" charset="0"/>
              </a:rPr>
              <a:t>ETC,Prodigy</a:t>
            </a:r>
            <a:r>
              <a:rPr lang="en-US" dirty="0">
                <a:latin typeface="Georgia" panose="02040502050405020303" pitchFamily="18" charset="0"/>
              </a:rPr>
              <a:t>, America Online, Microsoft network, AT&amp;T Networks.</a:t>
            </a:r>
          </a:p>
        </p:txBody>
      </p:sp>
    </p:spTree>
    <p:extLst>
      <p:ext uri="{BB962C8B-B14F-4D97-AF65-F5344CB8AC3E}">
        <p14:creationId xmlns:p14="http://schemas.microsoft.com/office/powerpoint/2010/main" val="382389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Wake up Quiz 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How do you define the internet?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Give one Advantage of the internet?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Give one Disadvantage of the internet?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The internet is centralized true/false?</a:t>
            </a:r>
          </a:p>
          <a:p>
            <a:r>
              <a:rPr lang="en-US" dirty="0">
                <a:latin typeface="Georgia" panose="02040502050405020303" pitchFamily="18" charset="0"/>
              </a:rPr>
              <a:t>The intended audience for the internet </a:t>
            </a:r>
            <a:r>
              <a:rPr lang="en-US" dirty="0" smtClean="0">
                <a:latin typeface="Georgia" panose="02040502050405020303" pitchFamily="18" charset="0"/>
              </a:rPr>
              <a:t>is ________?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736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/>
          <a:p>
            <a:r>
              <a:rPr lang="en-US" sz="2800" dirty="0" smtClean="0">
                <a:latin typeface="Georgia" panose="02040502050405020303" pitchFamily="18" charset="0"/>
              </a:rPr>
              <a:t>2.History of the Internet  </a:t>
            </a:r>
            <a:br>
              <a:rPr lang="en-US" sz="2800" dirty="0" smtClean="0">
                <a:latin typeface="Georgia" panose="02040502050405020303" pitchFamily="18" charset="0"/>
              </a:rPr>
            </a:br>
            <a:endParaRPr lang="en-US" sz="2800" dirty="0">
              <a:latin typeface="Georgia" panose="02040502050405020303" pitchFamily="18" charset="0"/>
            </a:endParaRPr>
          </a:p>
        </p:txBody>
      </p:sp>
      <p:pic>
        <p:nvPicPr>
          <p:cNvPr id="14" name="Picture 10" descr="Cerf.gif (22390 bytes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066" y="3839597"/>
            <a:ext cx="1547813" cy="171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http://www.livinginternet.com/g/lawrence_roberts.gif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3969" y="1315541"/>
            <a:ext cx="1414462" cy="2152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1" descr="http://hale.pepperdine.edu/~dcadler/Licklider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066" y="1249289"/>
            <a:ext cx="153352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2" descr="Kleinrock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4995" y="3672639"/>
            <a:ext cx="251460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155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0"/>
            <a:ext cx="9144000" cy="890337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Georgia" panose="02040502050405020303" pitchFamily="18" charset="0"/>
              </a:rPr>
              <a:t>History of the Internet </a:t>
            </a:r>
            <a:endParaRPr lang="en-US" sz="3600" dirty="0">
              <a:latin typeface="Georgia" panose="02040502050405020303" pitchFamily="18" charset="0"/>
            </a:endParaRPr>
          </a:p>
        </p:txBody>
      </p:sp>
      <p:pic>
        <p:nvPicPr>
          <p:cNvPr id="2052" name="Picture 4" descr="C:\CHIP\SCHOOL\TEACH\MKT390\Slides\history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69"/>
          <a:stretch>
            <a:fillRect/>
          </a:stretch>
        </p:blipFill>
        <p:spPr bwMode="auto">
          <a:xfrm>
            <a:off x="2895600" y="2971800"/>
            <a:ext cx="6248400" cy="2493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079651" y="1746402"/>
            <a:ext cx="45255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Three Major Players in Internet History</a:t>
            </a:r>
          </a:p>
        </p:txBody>
      </p:sp>
    </p:spTree>
    <p:extLst>
      <p:ext uri="{BB962C8B-B14F-4D97-AF65-F5344CB8AC3E}">
        <p14:creationId xmlns:p14="http://schemas.microsoft.com/office/powerpoint/2010/main" val="3077324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Fun Facts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 smtClean="0">
                <a:latin typeface="Georgia" panose="02040502050405020303" pitchFamily="18" charset="0"/>
              </a:rPr>
              <a:t>Early 90s terms which are changed because of internet</a:t>
            </a:r>
          </a:p>
          <a:p>
            <a:r>
              <a:rPr lang="en-US" dirty="0">
                <a:latin typeface="Georgia" panose="02040502050405020303" pitchFamily="18" charset="0"/>
              </a:rPr>
              <a:t>Surfing: Initially referred to riding waves on a surfboard. </a:t>
            </a:r>
            <a:endParaRPr lang="en-US" dirty="0" smtClean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Georgia" panose="02040502050405020303" pitchFamily="18" charset="0"/>
              </a:rPr>
              <a:t>	Today</a:t>
            </a:r>
            <a:r>
              <a:rPr lang="en-US" dirty="0">
                <a:latin typeface="Georgia" panose="02040502050405020303" pitchFamily="18" charset="0"/>
              </a:rPr>
              <a:t>, it commonly means "web surfing," or browsing the internet.</a:t>
            </a:r>
          </a:p>
          <a:p>
            <a:r>
              <a:rPr lang="en-US" dirty="0">
                <a:latin typeface="Georgia" panose="02040502050405020303" pitchFamily="18" charset="0"/>
              </a:rPr>
              <a:t>Mail: Before the internet, mail exclusively referred to letters and packages delivered by the post office. </a:t>
            </a:r>
            <a:endParaRPr lang="en-US" dirty="0" smtClean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Georgia" panose="02040502050405020303" pitchFamily="18" charset="0"/>
              </a:rPr>
              <a:t>	</a:t>
            </a:r>
            <a:r>
              <a:rPr lang="en-US" dirty="0" smtClean="0">
                <a:latin typeface="Georgia" panose="02040502050405020303" pitchFamily="18" charset="0"/>
              </a:rPr>
              <a:t>Now</a:t>
            </a:r>
            <a:r>
              <a:rPr lang="en-US" dirty="0">
                <a:latin typeface="Georgia" panose="02040502050405020303" pitchFamily="18" charset="0"/>
              </a:rPr>
              <a:t>, "e-mail" is a primary form of communication.</a:t>
            </a:r>
          </a:p>
          <a:p>
            <a:r>
              <a:rPr lang="en-US" dirty="0">
                <a:latin typeface="Georgia" panose="02040502050405020303" pitchFamily="18" charset="0"/>
              </a:rPr>
              <a:t>Online: This term originally meant physically waiting in a line, such as at a movie theater. </a:t>
            </a:r>
            <a:endParaRPr lang="en-US" dirty="0" smtClean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Georgia" panose="02040502050405020303" pitchFamily="18" charset="0"/>
              </a:rPr>
              <a:t>	</a:t>
            </a:r>
            <a:r>
              <a:rPr lang="en-US" dirty="0" smtClean="0">
                <a:latin typeface="Georgia" panose="02040502050405020303" pitchFamily="18" charset="0"/>
              </a:rPr>
              <a:t>Now</a:t>
            </a:r>
            <a:r>
              <a:rPr lang="en-US" dirty="0">
                <a:latin typeface="Georgia" panose="02040502050405020303" pitchFamily="18" charset="0"/>
              </a:rPr>
              <a:t>, it means being connected to the internet.</a:t>
            </a:r>
          </a:p>
          <a:p>
            <a:r>
              <a:rPr lang="en-US" dirty="0">
                <a:latin typeface="Georgia" panose="02040502050405020303" pitchFamily="18" charset="0"/>
              </a:rPr>
              <a:t>Server: This word once described a person who serves food, like a waitress. </a:t>
            </a:r>
            <a:endParaRPr lang="en-US" dirty="0" smtClean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Georgia" panose="02040502050405020303" pitchFamily="18" charset="0"/>
              </a:rPr>
              <a:t>	</a:t>
            </a:r>
            <a:r>
              <a:rPr lang="en-US" dirty="0" smtClean="0">
                <a:latin typeface="Georgia" panose="02040502050405020303" pitchFamily="18" charset="0"/>
              </a:rPr>
              <a:t>It </a:t>
            </a:r>
            <a:r>
              <a:rPr lang="en-US" dirty="0">
                <a:latin typeface="Georgia" panose="02040502050405020303" pitchFamily="18" charset="0"/>
              </a:rPr>
              <a:t>now also refers to a computer that provides data to other computers (clients). 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40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History </a:t>
            </a:r>
            <a:r>
              <a:rPr lang="en-US" dirty="0" smtClean="0">
                <a:latin typeface="Georgia" panose="02040502050405020303" pitchFamily="18" charset="0"/>
              </a:rPr>
              <a:t>of </a:t>
            </a:r>
            <a:r>
              <a:rPr lang="en-US" dirty="0">
                <a:latin typeface="Georgia" panose="02040502050405020303" pitchFamily="18" charset="0"/>
              </a:rPr>
              <a:t>the Internet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Georgia" panose="02040502050405020303" pitchFamily="18" charset="0"/>
              </a:rPr>
              <a:t>The creation of the Internet is dependent on mankind’s earlier </a:t>
            </a:r>
            <a:r>
              <a:rPr lang="en-US" dirty="0" smtClean="0">
                <a:latin typeface="Georgia" panose="02040502050405020303" pitchFamily="18" charset="0"/>
              </a:rPr>
              <a:t>innovations</a:t>
            </a:r>
          </a:p>
          <a:p>
            <a:pPr>
              <a:lnSpc>
                <a:spcPct val="95000"/>
              </a:lnSpc>
            </a:pPr>
            <a:r>
              <a:rPr lang="en-US" b="1" dirty="0">
                <a:latin typeface="Georgia" panose="02040502050405020303" pitchFamily="18" charset="0"/>
              </a:rPr>
              <a:t>1836</a:t>
            </a:r>
            <a:r>
              <a:rPr lang="en-US" dirty="0">
                <a:latin typeface="Georgia" panose="02040502050405020303" pitchFamily="18" charset="0"/>
              </a:rPr>
              <a:t> - </a:t>
            </a:r>
            <a:r>
              <a:rPr lang="en-US" b="1" dirty="0">
                <a:latin typeface="Georgia" panose="02040502050405020303" pitchFamily="18" charset="0"/>
              </a:rPr>
              <a:t>Telegraph</a:t>
            </a:r>
            <a:r>
              <a:rPr lang="en-US" dirty="0">
                <a:latin typeface="Georgia" panose="02040502050405020303" pitchFamily="18" charset="0"/>
              </a:rPr>
              <a:t> by Cooke and Wheatstone</a:t>
            </a:r>
          </a:p>
          <a:p>
            <a:pPr>
              <a:lnSpc>
                <a:spcPct val="95000"/>
              </a:lnSpc>
              <a:buFontTx/>
              <a:buChar char="•"/>
            </a:pPr>
            <a:r>
              <a:rPr lang="en-US" dirty="0">
                <a:latin typeface="Georgia" panose="02040502050405020303" pitchFamily="18" charset="0"/>
              </a:rPr>
              <a:t>Revolutionized human (</a:t>
            </a:r>
            <a:r>
              <a:rPr lang="en-US" dirty="0" err="1">
                <a:latin typeface="Georgia" panose="02040502050405020303" pitchFamily="18" charset="0"/>
              </a:rPr>
              <a:t>tele</a:t>
            </a:r>
            <a:r>
              <a:rPr lang="en-US" dirty="0">
                <a:latin typeface="Georgia" panose="02040502050405020303" pitchFamily="18" charset="0"/>
              </a:rPr>
              <a:t>)communications. </a:t>
            </a:r>
          </a:p>
          <a:p>
            <a:pPr>
              <a:lnSpc>
                <a:spcPct val="95000"/>
              </a:lnSpc>
              <a:buFontTx/>
              <a:buChar char="•"/>
            </a:pPr>
            <a:r>
              <a:rPr lang="en-US" dirty="0">
                <a:latin typeface="Georgia" panose="02040502050405020303" pitchFamily="18" charset="0"/>
              </a:rPr>
              <a:t>Morse Code a series of dots and dashes used to communicate between humans. This is similar to how computers communicate via (binary 0/1) data today. Although it is much slower!!</a:t>
            </a:r>
          </a:p>
          <a:p>
            <a:pPr>
              <a:lnSpc>
                <a:spcPct val="95000"/>
              </a:lnSpc>
            </a:pPr>
            <a:r>
              <a:rPr lang="en-US" b="1" dirty="0">
                <a:latin typeface="Georgia" panose="02040502050405020303" pitchFamily="18" charset="0"/>
              </a:rPr>
              <a:t>1858-1866</a:t>
            </a:r>
            <a:r>
              <a:rPr lang="en-US" dirty="0">
                <a:latin typeface="Georgia" panose="02040502050405020303" pitchFamily="18" charset="0"/>
              </a:rPr>
              <a:t> - </a:t>
            </a:r>
            <a:r>
              <a:rPr lang="en-US" b="1" dirty="0">
                <a:latin typeface="Georgia" panose="02040502050405020303" pitchFamily="18" charset="0"/>
              </a:rPr>
              <a:t>Transatlantic cable</a:t>
            </a:r>
            <a:r>
              <a:rPr lang="en-US" dirty="0">
                <a:latin typeface="Georgia" panose="02040502050405020303" pitchFamily="18" charset="0"/>
              </a:rPr>
              <a:t>. Allowed direct instantaneous communication across the Atlantic.  Today, cables connect all continents and are still a main hub of telecommunications</a:t>
            </a:r>
            <a:r>
              <a:rPr lang="en-US" b="1" dirty="0" smtClean="0">
                <a:latin typeface="Georgia" panose="02040502050405020303" pitchFamily="18" charset="0"/>
              </a:rPr>
              <a:t> </a:t>
            </a:r>
          </a:p>
          <a:p>
            <a:pPr>
              <a:lnSpc>
                <a:spcPct val="95000"/>
              </a:lnSpc>
            </a:pPr>
            <a:r>
              <a:rPr lang="en-US" b="1" dirty="0">
                <a:latin typeface="Georgia" panose="02040502050405020303" pitchFamily="18" charset="0"/>
              </a:rPr>
              <a:t>1876</a:t>
            </a:r>
            <a:r>
              <a:rPr lang="en-US" dirty="0">
                <a:latin typeface="Georgia" panose="02040502050405020303" pitchFamily="18" charset="0"/>
              </a:rPr>
              <a:t> - </a:t>
            </a:r>
            <a:r>
              <a:rPr lang="en-US" b="1" dirty="0">
                <a:latin typeface="Georgia" panose="02040502050405020303" pitchFamily="18" charset="0"/>
              </a:rPr>
              <a:t>Telephone</a:t>
            </a:r>
            <a:r>
              <a:rPr lang="en-US" dirty="0">
                <a:latin typeface="Georgia" panose="02040502050405020303" pitchFamily="18" charset="0"/>
              </a:rPr>
              <a:t>. Alexander Graham Bell Exhibits. </a:t>
            </a:r>
          </a:p>
          <a:p>
            <a:pPr>
              <a:lnSpc>
                <a:spcPct val="95000"/>
              </a:lnSpc>
              <a:buFontTx/>
              <a:buChar char="•"/>
            </a:pPr>
            <a:r>
              <a:rPr lang="en-US" dirty="0">
                <a:latin typeface="Georgia" panose="02040502050405020303" pitchFamily="18" charset="0"/>
              </a:rPr>
              <a:t>Telephones exchanges provide the backbone of Internet connections today. </a:t>
            </a:r>
          </a:p>
          <a:p>
            <a:pPr>
              <a:lnSpc>
                <a:spcPct val="95000"/>
              </a:lnSpc>
              <a:buFontTx/>
              <a:buChar char="•"/>
            </a:pPr>
            <a:r>
              <a:rPr lang="en-US" dirty="0">
                <a:latin typeface="Georgia" panose="02040502050405020303" pitchFamily="18" charset="0"/>
              </a:rPr>
              <a:t>Modems provide Digital to Audio conversions to allow computers to connect over the telephone network. </a:t>
            </a:r>
          </a:p>
          <a:p>
            <a:pPr>
              <a:lnSpc>
                <a:spcPct val="95000"/>
              </a:lnSpc>
            </a:pPr>
            <a:endParaRPr lang="en-US" b="1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</p:txBody>
      </p:sp>
      <p:graphicFrame>
        <p:nvGraphicFramePr>
          <p:cNvPr id="4" name="Object 3077"/>
          <p:cNvGraphicFramePr>
            <a:graphicFrameLocks noChangeAspect="1"/>
          </p:cNvGraphicFramePr>
          <p:nvPr>
            <p:extLst/>
          </p:nvPr>
        </p:nvGraphicFramePr>
        <p:xfrm>
          <a:off x="9906000" y="4237039"/>
          <a:ext cx="2286000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4" name="Clip" r:id="rId3" imgW="1046988" imgH="778154" progId="">
                  <p:embed/>
                </p:oleObj>
              </mc:Choice>
              <mc:Fallback>
                <p:oleObj name="Clip" r:id="rId3" imgW="1046988" imgH="778154" progId="">
                  <p:embed/>
                  <p:pic>
                    <p:nvPicPr>
                      <p:cNvPr id="0" name="Picture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0" y="4237039"/>
                        <a:ext cx="2286000" cy="1184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080"/>
          <p:cNvGraphicFramePr>
            <a:graphicFrameLocks noChangeAspect="1"/>
          </p:cNvGraphicFramePr>
          <p:nvPr>
            <p:extLst/>
          </p:nvPr>
        </p:nvGraphicFramePr>
        <p:xfrm>
          <a:off x="10515600" y="5526088"/>
          <a:ext cx="11430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5" name="Clip" r:id="rId5" imgW="2286581" imgH="2147155" progId="">
                  <p:embed/>
                </p:oleObj>
              </mc:Choice>
              <mc:Fallback>
                <p:oleObj name="Clip" r:id="rId5" imgW="2286581" imgH="2147155" progId="">
                  <p:embed/>
                  <p:pic>
                    <p:nvPicPr>
                      <p:cNvPr id="0" name="Picture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15600" y="5526088"/>
                        <a:ext cx="1143000" cy="1073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075"/>
          <p:cNvGraphicFramePr>
            <a:graphicFrameLocks noChangeAspect="1"/>
          </p:cNvGraphicFramePr>
          <p:nvPr>
            <p:extLst/>
          </p:nvPr>
        </p:nvGraphicFramePr>
        <p:xfrm>
          <a:off x="9748837" y="391027"/>
          <a:ext cx="1533525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6" name="Clip" r:id="rId7" imgW="1642892" imgH="2285579" progId="">
                  <p:embed/>
                </p:oleObj>
              </mc:Choice>
              <mc:Fallback>
                <p:oleObj name="Clip" r:id="rId7" imgW="1642892" imgH="2285579" progId="">
                  <p:embed/>
                  <p:pic>
                    <p:nvPicPr>
                      <p:cNvPr id="0" name="Picture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8837" y="391027"/>
                        <a:ext cx="1533525" cy="213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484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History of the Internet </a:t>
            </a: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11" y="1524000"/>
            <a:ext cx="6788989" cy="48006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400" b="1" dirty="0">
                <a:latin typeface="Georgia" panose="02040502050405020303" pitchFamily="18" charset="0"/>
              </a:rPr>
              <a:t>Political Events</a:t>
            </a:r>
            <a:endParaRPr lang="en-US" sz="2400" b="1" dirty="0" smtClean="0">
              <a:latin typeface="Georgia" panose="02040502050405020303" pitchFamily="18" charset="0"/>
            </a:endParaRPr>
          </a:p>
          <a:p>
            <a:pPr>
              <a:buFontTx/>
              <a:buNone/>
            </a:pPr>
            <a:r>
              <a:rPr lang="en-US" sz="2400" b="1" dirty="0" smtClean="0">
                <a:latin typeface="Georgia" panose="02040502050405020303" pitchFamily="18" charset="0"/>
              </a:rPr>
              <a:t>1940’s </a:t>
            </a:r>
            <a:r>
              <a:rPr lang="en-US" sz="2400" b="1" dirty="0">
                <a:latin typeface="Georgia" panose="02040502050405020303" pitchFamily="18" charset="0"/>
              </a:rPr>
              <a:t>to 1980’s</a:t>
            </a:r>
            <a:r>
              <a:rPr lang="en-US" sz="2400" dirty="0">
                <a:latin typeface="Georgia" panose="02040502050405020303" pitchFamily="18" charset="0"/>
              </a:rPr>
              <a:t> - U.S. vs. Soviet Cold War</a:t>
            </a:r>
          </a:p>
          <a:p>
            <a:pPr>
              <a:buFontTx/>
              <a:buNone/>
            </a:pPr>
            <a:r>
              <a:rPr lang="en-US" sz="2400" b="1" dirty="0">
                <a:latin typeface="Georgia" panose="02040502050405020303" pitchFamily="18" charset="0"/>
              </a:rPr>
              <a:t>1957</a:t>
            </a:r>
            <a:r>
              <a:rPr lang="en-US" sz="2400" dirty="0">
                <a:latin typeface="Georgia" panose="02040502050405020303" pitchFamily="18" charset="0"/>
              </a:rPr>
              <a:t> - U.S.S.R. launches </a:t>
            </a:r>
            <a:r>
              <a:rPr lang="en-US" sz="2400" dirty="0" err="1" smtClean="0">
                <a:latin typeface="Georgia" panose="02040502050405020303" pitchFamily="18" charset="0"/>
              </a:rPr>
              <a:t>Sputnik.The</a:t>
            </a:r>
            <a:r>
              <a:rPr lang="en-US" sz="2400" dirty="0" smtClean="0">
                <a:latin typeface="Georgia" panose="02040502050405020303" pitchFamily="18" charset="0"/>
              </a:rPr>
              <a:t> </a:t>
            </a:r>
            <a:r>
              <a:rPr lang="en-US" sz="2400" dirty="0">
                <a:latin typeface="Georgia" panose="02040502050405020303" pitchFamily="18" charset="0"/>
              </a:rPr>
              <a:t>first </a:t>
            </a:r>
            <a:r>
              <a:rPr lang="en-US" sz="2400" dirty="0" smtClean="0">
                <a:latin typeface="Georgia" panose="02040502050405020303" pitchFamily="18" charset="0"/>
              </a:rPr>
              <a:t>satellite</a:t>
            </a:r>
            <a:r>
              <a:rPr lang="en-US" sz="2400" dirty="0">
                <a:latin typeface="Georgia" panose="02040502050405020303" pitchFamily="18" charset="0"/>
              </a:rPr>
              <a:t>, into orbit.</a:t>
            </a:r>
            <a:endParaRPr lang="en-US" sz="2400" dirty="0" smtClean="0">
              <a:latin typeface="Georgia" panose="02040502050405020303" pitchFamily="18" charset="0"/>
            </a:endParaRPr>
          </a:p>
          <a:p>
            <a:pPr>
              <a:buFontTx/>
              <a:buNone/>
            </a:pPr>
            <a:r>
              <a:rPr lang="en-US" sz="2400" dirty="0" smtClean="0">
                <a:latin typeface="Georgia" panose="02040502050405020303" pitchFamily="18" charset="0"/>
              </a:rPr>
              <a:t>The </a:t>
            </a:r>
            <a:r>
              <a:rPr lang="en-US" sz="2400" dirty="0">
                <a:latin typeface="Georgia" panose="02040502050405020303" pitchFamily="18" charset="0"/>
              </a:rPr>
              <a:t>US forms the Advanced Research Projects Agency (ARPA) within the Department of Defense (DoD) to build US skills in computer technology.</a:t>
            </a:r>
          </a:p>
          <a:p>
            <a:r>
              <a:rPr lang="en-US" sz="2400" dirty="0">
                <a:latin typeface="Georgia" panose="02040502050405020303" pitchFamily="18" charset="0"/>
              </a:rPr>
              <a:t>The start of global telecommunications. Satellites play an important role in transmitting all sorts of data today. </a:t>
            </a:r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168441" y="69558"/>
          <a:ext cx="1909011" cy="1073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8" name="Clip" r:id="rId3" imgW="2287194" imgH="1415768" progId="">
                  <p:embed/>
                </p:oleObj>
              </mc:Choice>
              <mc:Fallback>
                <p:oleObj name="Clip" r:id="rId3" imgW="2287194" imgH="1415768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41" y="69558"/>
                        <a:ext cx="1909011" cy="10734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8" name="Picture 8" descr="http://www.browardflag.com/images/images_world/ussr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0"/>
            <a:ext cx="2667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0" name="Picture 62" descr="The World's First Artificial Satellit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049" y="2380891"/>
            <a:ext cx="3569147" cy="2648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1067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87379" y="505326"/>
            <a:ext cx="8694821" cy="637674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History of the Internet </a:t>
            </a: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5853" y="1720515"/>
            <a:ext cx="7315200" cy="51735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endParaRPr lang="en-US" b="1" dirty="0" smtClean="0">
              <a:latin typeface="Georgia" panose="02040502050405020303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b="1" dirty="0" smtClean="0">
                <a:latin typeface="Georgia" panose="02040502050405020303" pitchFamily="18" charset="0"/>
              </a:rPr>
              <a:t>1957</a:t>
            </a:r>
            <a:r>
              <a:rPr lang="en-US" dirty="0" smtClean="0">
                <a:latin typeface="Georgia" panose="02040502050405020303" pitchFamily="18" charset="0"/>
              </a:rPr>
              <a:t> </a:t>
            </a:r>
            <a:r>
              <a:rPr lang="en-US" dirty="0">
                <a:latin typeface="Georgia" panose="02040502050405020303" pitchFamily="18" charset="0"/>
              </a:rPr>
              <a:t>- In response, US forms the </a:t>
            </a:r>
            <a:r>
              <a:rPr lang="en-US" b="1" dirty="0">
                <a:latin typeface="Georgia" panose="02040502050405020303" pitchFamily="18" charset="0"/>
              </a:rPr>
              <a:t>Advanced Research Projects Agency (ARPA)</a:t>
            </a:r>
            <a:r>
              <a:rPr lang="en-US" dirty="0">
                <a:latin typeface="Georgia" panose="02040502050405020303" pitchFamily="18" charset="0"/>
              </a:rPr>
              <a:t> within the Department of Defense (</a:t>
            </a:r>
            <a:r>
              <a:rPr lang="en-US" dirty="0" err="1">
                <a:latin typeface="Georgia" panose="02040502050405020303" pitchFamily="18" charset="0"/>
              </a:rPr>
              <a:t>DoD</a:t>
            </a:r>
            <a:r>
              <a:rPr lang="en-US" dirty="0">
                <a:latin typeface="Georgia" panose="02040502050405020303" pitchFamily="18" charset="0"/>
              </a:rPr>
              <a:t>) to establish US lead in science and technology applicable to the military.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b="1" dirty="0">
                <a:latin typeface="Georgia" panose="02040502050405020303" pitchFamily="18" charset="0"/>
              </a:rPr>
              <a:t>1962</a:t>
            </a:r>
            <a:r>
              <a:rPr lang="en-US" dirty="0">
                <a:latin typeface="Georgia" panose="02040502050405020303" pitchFamily="18" charset="0"/>
              </a:rPr>
              <a:t> - Dr. J.C.R. </a:t>
            </a:r>
            <a:r>
              <a:rPr lang="en-US" dirty="0" err="1">
                <a:latin typeface="Georgia" panose="02040502050405020303" pitchFamily="18" charset="0"/>
              </a:rPr>
              <a:t>Licklider</a:t>
            </a:r>
            <a:r>
              <a:rPr lang="en-US" dirty="0">
                <a:latin typeface="Georgia" panose="02040502050405020303" pitchFamily="18" charset="0"/>
              </a:rPr>
              <a:t> was chosen to head ARPA's research in improving the military's use of computer technology. </a:t>
            </a:r>
          </a:p>
          <a:p>
            <a:pPr>
              <a:lnSpc>
                <a:spcPct val="90000"/>
              </a:lnSpc>
            </a:pPr>
            <a:r>
              <a:rPr lang="en-US" dirty="0" err="1">
                <a:latin typeface="Georgia" panose="02040502050405020303" pitchFamily="18" charset="0"/>
              </a:rPr>
              <a:t>Licklider</a:t>
            </a:r>
            <a:r>
              <a:rPr lang="en-US" dirty="0">
                <a:latin typeface="Georgia" panose="02040502050405020303" pitchFamily="18" charset="0"/>
              </a:rPr>
              <a:t> was a visionary who sought to make the government's use of computers more interactive.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eorgia" panose="02040502050405020303" pitchFamily="18" charset="0"/>
              </a:rPr>
              <a:t>moved ARPA's contracts from </a:t>
            </a:r>
            <a:r>
              <a:rPr lang="en-US" b="1" dirty="0">
                <a:latin typeface="Georgia" panose="02040502050405020303" pitchFamily="18" charset="0"/>
              </a:rPr>
              <a:t>the private sector to universities and laid the foundations for what would become the </a:t>
            </a:r>
            <a:r>
              <a:rPr lang="en-US" b="1" dirty="0">
                <a:solidFill>
                  <a:srgbClr val="FF0000"/>
                </a:solidFill>
                <a:latin typeface="Georgia" panose="02040502050405020303" pitchFamily="18" charset="0"/>
              </a:rPr>
              <a:t>ARPANET. </a:t>
            </a:r>
          </a:p>
        </p:txBody>
      </p:sp>
      <p:pic>
        <p:nvPicPr>
          <p:cNvPr id="16389" name="Picture 5" descr="Joseph Licklid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2743201"/>
            <a:ext cx="1828800" cy="276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880937" y="1305426"/>
            <a:ext cx="7772400" cy="637674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latin typeface="Georgia" panose="02040502050405020303" pitchFamily="18" charset="0"/>
              </a:rPr>
              <a:t>ARPA Created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7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History of the </a:t>
            </a:r>
            <a:r>
              <a:rPr lang="en-US" dirty="0" smtClean="0">
                <a:latin typeface="Georgia" panose="02040502050405020303" pitchFamily="18" charset="0"/>
              </a:rPr>
              <a:t>Internet..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883" y="1622674"/>
            <a:ext cx="6165970" cy="4734994"/>
          </a:xfrm>
        </p:spPr>
      </p:pic>
      <p:sp>
        <p:nvSpPr>
          <p:cNvPr id="3" name="Rectangle 2"/>
          <p:cNvSpPr/>
          <p:nvPr/>
        </p:nvSpPr>
        <p:spPr>
          <a:xfrm>
            <a:off x="391064" y="1457712"/>
            <a:ext cx="482791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Georgia" panose="02040502050405020303" pitchFamily="18" charset="0"/>
              </a:rPr>
              <a:t>Centralized Network</a:t>
            </a:r>
            <a:r>
              <a:rPr lang="en-US" sz="2000" b="1" dirty="0">
                <a:latin typeface="Georgia" panose="02040502050405020303" pitchFamily="18" charset="0"/>
              </a:rPr>
              <a:t>: </a:t>
            </a:r>
            <a:r>
              <a:rPr lang="en-US" sz="2000" dirty="0">
                <a:latin typeface="Georgia" panose="02040502050405020303" pitchFamily="18" charset="0"/>
              </a:rPr>
              <a:t>All </a:t>
            </a:r>
            <a:r>
              <a:rPr lang="en-US" sz="2000" dirty="0">
                <a:latin typeface="Georgia" panose="02040502050405020303" pitchFamily="18" charset="0"/>
              </a:rPr>
              <a:t>devices (clients) connect to a single central server that controls data and resources</a:t>
            </a:r>
            <a:r>
              <a:rPr lang="en-US" sz="2000" dirty="0">
                <a:latin typeface="Georgia" panose="02040502050405020303" pitchFamily="18" charset="0"/>
              </a:rPr>
              <a:t>.</a:t>
            </a:r>
          </a:p>
          <a:p>
            <a:endParaRPr lang="en-US" sz="2000" dirty="0">
              <a:latin typeface="Georgia" panose="02040502050405020303" pitchFamily="18" charset="0"/>
            </a:endParaRPr>
          </a:p>
          <a:p>
            <a:r>
              <a:rPr lang="en-US" sz="2000" dirty="0">
                <a:latin typeface="Georgia" panose="02040502050405020303" pitchFamily="18" charset="0"/>
              </a:rPr>
              <a:t>If the central server fails, the whole network stops</a:t>
            </a:r>
            <a:r>
              <a:rPr lang="en-US" sz="2000" dirty="0">
                <a:latin typeface="Georgia" panose="02040502050405020303" pitchFamily="18" charset="0"/>
              </a:rPr>
              <a:t>. </a:t>
            </a:r>
            <a:r>
              <a:rPr lang="en-US" sz="2000" dirty="0">
                <a:latin typeface="Georgia" panose="02040502050405020303" pitchFamily="18" charset="0"/>
              </a:rPr>
              <a:t>Example</a:t>
            </a:r>
            <a:r>
              <a:rPr lang="en-US" sz="2000" dirty="0">
                <a:latin typeface="Georgia" panose="02040502050405020303" pitchFamily="18" charset="0"/>
              </a:rPr>
              <a:t>: </a:t>
            </a:r>
            <a:r>
              <a:rPr lang="en-US" sz="2000" dirty="0" smtClean="0">
                <a:latin typeface="Georgia" panose="02040502050405020303" pitchFamily="18" charset="0"/>
              </a:rPr>
              <a:t>client–server </a:t>
            </a:r>
            <a:r>
              <a:rPr lang="en-US" sz="2000" dirty="0">
                <a:latin typeface="Georgia" panose="02040502050405020303" pitchFamily="18" charset="0"/>
              </a:rPr>
              <a:t>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91064" y="3990171"/>
            <a:ext cx="470714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Georgia" panose="02040502050405020303" pitchFamily="18" charset="0"/>
              </a:rPr>
              <a:t>Distributed Network</a:t>
            </a:r>
            <a:r>
              <a:rPr lang="en-US" sz="2000" b="1" dirty="0" smtClean="0">
                <a:latin typeface="Georgia" panose="02040502050405020303" pitchFamily="18" charset="0"/>
              </a:rPr>
              <a:t>: </a:t>
            </a:r>
            <a:r>
              <a:rPr lang="en-US" sz="2000" dirty="0" smtClean="0">
                <a:latin typeface="Georgia" panose="02040502050405020303" pitchFamily="18" charset="0"/>
              </a:rPr>
              <a:t>Multiple </a:t>
            </a:r>
            <a:r>
              <a:rPr lang="en-US" sz="2000" dirty="0">
                <a:latin typeface="Georgia" panose="02040502050405020303" pitchFamily="18" charset="0"/>
              </a:rPr>
              <a:t>interconnected nodes share data and resources without a single point of control.</a:t>
            </a:r>
            <a:br>
              <a:rPr lang="en-US" sz="2000" dirty="0">
                <a:latin typeface="Georgia" panose="02040502050405020303" pitchFamily="18" charset="0"/>
              </a:rPr>
            </a:br>
            <a:r>
              <a:rPr lang="en-US" sz="2000" dirty="0">
                <a:latin typeface="Georgia" panose="02040502050405020303" pitchFamily="18" charset="0"/>
              </a:rPr>
              <a:t>More </a:t>
            </a:r>
            <a:r>
              <a:rPr lang="en-US" sz="2000" dirty="0">
                <a:latin typeface="Georgia" panose="02040502050405020303" pitchFamily="18" charset="0"/>
              </a:rPr>
              <a:t>reliable and scalable — if one node fails, others keep working</a:t>
            </a:r>
            <a:r>
              <a:rPr lang="en-US" sz="2000" dirty="0">
                <a:latin typeface="Georgia" panose="02040502050405020303" pitchFamily="18" charset="0"/>
              </a:rPr>
              <a:t>. Example</a:t>
            </a:r>
            <a:r>
              <a:rPr lang="en-US" sz="2000" dirty="0">
                <a:latin typeface="Georgia" panose="02040502050405020303" pitchFamily="18" charset="0"/>
              </a:rPr>
              <a:t>: </a:t>
            </a:r>
            <a:r>
              <a:rPr lang="en-US" sz="2000" dirty="0" err="1">
                <a:latin typeface="Georgia" panose="02040502050405020303" pitchFamily="18" charset="0"/>
              </a:rPr>
              <a:t>Blockchain</a:t>
            </a:r>
            <a:r>
              <a:rPr lang="en-US" sz="2000" dirty="0">
                <a:latin typeface="Georgia" panose="02040502050405020303" pitchFamily="18" charset="0"/>
              </a:rPr>
              <a:t>, peer-to-peer (P2P) systems.</a:t>
            </a:r>
          </a:p>
        </p:txBody>
      </p:sp>
    </p:spTree>
    <p:extLst>
      <p:ext uri="{BB962C8B-B14F-4D97-AF65-F5344CB8AC3E}">
        <p14:creationId xmlns:p14="http://schemas.microsoft.com/office/powerpoint/2010/main" val="428170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History of the Internet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1" dirty="0">
                <a:latin typeface="Georgia" panose="02040502050405020303" pitchFamily="18" charset="0"/>
              </a:rPr>
              <a:t>Packet-Switching is Key</a:t>
            </a:r>
            <a:endParaRPr lang="en-US" b="1" dirty="0" smtClean="0">
              <a:latin typeface="Georgia" panose="02040502050405020303" pitchFamily="18" charset="0"/>
            </a:endParaRPr>
          </a:p>
          <a:p>
            <a:pPr>
              <a:buFontTx/>
              <a:buNone/>
            </a:pPr>
            <a:r>
              <a:rPr lang="en-US" b="1" dirty="0" smtClean="0">
                <a:latin typeface="Georgia" panose="02040502050405020303" pitchFamily="18" charset="0"/>
              </a:rPr>
              <a:t>1962-1968</a:t>
            </a:r>
            <a:r>
              <a:rPr lang="en-US" dirty="0" smtClean="0">
                <a:latin typeface="Georgia" panose="02040502050405020303" pitchFamily="18" charset="0"/>
              </a:rPr>
              <a:t> </a:t>
            </a:r>
            <a:r>
              <a:rPr lang="en-US" dirty="0">
                <a:latin typeface="Georgia" panose="02040502050405020303" pitchFamily="18" charset="0"/>
              </a:rPr>
              <a:t>-  Packet-switching (PS) networks developed</a:t>
            </a:r>
          </a:p>
          <a:p>
            <a:r>
              <a:rPr lang="en-US" dirty="0">
                <a:latin typeface="Georgia" panose="02040502050405020303" pitchFamily="18" charset="0"/>
              </a:rPr>
              <a:t>The Internet relies on packets </a:t>
            </a:r>
            <a:r>
              <a:rPr lang="en-US" dirty="0">
                <a:solidFill>
                  <a:srgbClr val="FF0000"/>
                </a:solidFill>
                <a:latin typeface="Georgia" panose="02040502050405020303" pitchFamily="18" charset="0"/>
              </a:rPr>
              <a:t>to transfer data. </a:t>
            </a:r>
          </a:p>
          <a:p>
            <a:r>
              <a:rPr lang="en-US" b="1" dirty="0">
                <a:latin typeface="Georgia" panose="02040502050405020303" pitchFamily="18" charset="0"/>
              </a:rPr>
              <a:t>Data is split into </a:t>
            </a:r>
            <a:r>
              <a:rPr lang="en-US" b="1" dirty="0">
                <a:solidFill>
                  <a:srgbClr val="FF0000"/>
                </a:solidFill>
                <a:latin typeface="Georgia" panose="02040502050405020303" pitchFamily="18" charset="0"/>
              </a:rPr>
              <a:t>tiny packets </a:t>
            </a:r>
            <a:r>
              <a:rPr lang="en-US" b="1" dirty="0">
                <a:latin typeface="Georgia" panose="02040502050405020303" pitchFamily="18" charset="0"/>
              </a:rPr>
              <a:t>that may take different routes to a destination</a:t>
            </a:r>
            <a:r>
              <a:rPr lang="en-US" dirty="0">
                <a:latin typeface="Georgia" panose="02040502050405020303" pitchFamily="18" charset="0"/>
              </a:rPr>
              <a:t>. </a:t>
            </a:r>
          </a:p>
          <a:p>
            <a:pPr>
              <a:buFontTx/>
              <a:buNone/>
            </a:pPr>
            <a:r>
              <a:rPr lang="en-US" b="1" dirty="0">
                <a:latin typeface="Georgia" panose="02040502050405020303" pitchFamily="18" charset="0"/>
              </a:rPr>
              <a:t>The origin is military : for utmost security in transferring information of networks (no single outage point). </a:t>
            </a:r>
          </a:p>
          <a:p>
            <a:r>
              <a:rPr lang="en-US" dirty="0">
                <a:latin typeface="Georgia" panose="02040502050405020303" pitchFamily="18" charset="0"/>
              </a:rPr>
              <a:t>More than one route available -- if one route goes down another may be followed. </a:t>
            </a:r>
          </a:p>
          <a:p>
            <a:r>
              <a:rPr lang="en-US" dirty="0">
                <a:latin typeface="Georgia" panose="02040502050405020303" pitchFamily="18" charset="0"/>
              </a:rPr>
              <a:t>Networks can withstand large scale destruction (Nuclear attack - This was the time of the Cold War). 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19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 panose="02040502050405020303" pitchFamily="18" charset="0"/>
              </a:rPr>
              <a:t>History of the Internet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899" y="1600200"/>
            <a:ext cx="8489951" cy="4572000"/>
          </a:xfrm>
        </p:spPr>
        <p:txBody>
          <a:bodyPr>
            <a:norm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The Birth of the </a:t>
            </a:r>
            <a:r>
              <a:rPr lang="en-US" b="1" dirty="0" smtClean="0">
                <a:latin typeface="Georgia" panose="02040502050405020303" pitchFamily="18" charset="0"/>
              </a:rPr>
              <a:t>Internet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1969</a:t>
            </a:r>
            <a:r>
              <a:rPr lang="en-US" dirty="0">
                <a:latin typeface="Georgia" panose="02040502050405020303" pitchFamily="18" charset="0"/>
              </a:rPr>
              <a:t>: The </a:t>
            </a:r>
            <a:r>
              <a:rPr lang="en-US" b="1" dirty="0">
                <a:latin typeface="Georgia" panose="02040502050405020303" pitchFamily="18" charset="0"/>
              </a:rPr>
              <a:t>ARPANET</a:t>
            </a:r>
            <a:r>
              <a:rPr lang="en-US" dirty="0">
                <a:latin typeface="Georgia" panose="02040502050405020303" pitchFamily="18" charset="0"/>
              </a:rPr>
              <a:t> computer network is launched, initially linking together </a:t>
            </a:r>
            <a:r>
              <a:rPr lang="en-US" b="1" dirty="0">
                <a:latin typeface="Georgia" panose="02040502050405020303" pitchFamily="18" charset="0"/>
              </a:rPr>
              <a:t>four scientific institutions in California and </a:t>
            </a:r>
            <a:r>
              <a:rPr lang="en-US" b="1" dirty="0" smtClean="0">
                <a:latin typeface="Georgia" panose="02040502050405020303" pitchFamily="18" charset="0"/>
              </a:rPr>
              <a:t>Utah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In </a:t>
            </a:r>
            <a:r>
              <a:rPr lang="en-US" dirty="0">
                <a:latin typeface="Georgia" panose="02040502050405020303" pitchFamily="18" charset="0"/>
              </a:rPr>
              <a:t>1969 ARPA developed a special computer called the </a:t>
            </a:r>
            <a:r>
              <a:rPr lang="en-US" b="1" dirty="0">
                <a:latin typeface="Georgia" panose="02040502050405020303" pitchFamily="18" charset="0"/>
              </a:rPr>
              <a:t>Interface Message </a:t>
            </a:r>
            <a:r>
              <a:rPr lang="en-US" sz="1600" b="1" i="1" dirty="0" smtClean="0">
                <a:latin typeface="Georgia" panose="02040502050405020303" pitchFamily="18" charset="0"/>
              </a:rPr>
              <a:t>Processor(</a:t>
            </a:r>
            <a:r>
              <a:rPr lang="en-US" sz="1600" i="1" dirty="0" smtClean="0">
                <a:latin typeface="Georgia" panose="02040502050405020303" pitchFamily="18" charset="0"/>
              </a:rPr>
              <a:t>Honeywell </a:t>
            </a:r>
            <a:r>
              <a:rPr lang="en-US" sz="1600" i="1" dirty="0">
                <a:latin typeface="Georgia" panose="02040502050405020303" pitchFamily="18" charset="0"/>
              </a:rPr>
              <a:t>516 mini computer with 12K of memory developed by Bolt </a:t>
            </a:r>
            <a:r>
              <a:rPr lang="en-US" sz="1600" i="1" dirty="0" err="1">
                <a:latin typeface="Georgia" panose="02040502050405020303" pitchFamily="18" charset="0"/>
              </a:rPr>
              <a:t>Beranek</a:t>
            </a:r>
            <a:r>
              <a:rPr lang="en-US" sz="1600" i="1" dirty="0">
                <a:latin typeface="Georgia" panose="02040502050405020303" pitchFamily="18" charset="0"/>
              </a:rPr>
              <a:t> and Newman, Inc. (BBN) </a:t>
            </a:r>
            <a:r>
              <a:rPr lang="en-US" dirty="0" smtClean="0">
                <a:latin typeface="Georgia" panose="02040502050405020303" pitchFamily="18" charset="0"/>
              </a:rPr>
              <a:t>)</a:t>
            </a:r>
            <a:endParaRPr lang="en-US" dirty="0">
              <a:latin typeface="Georgia" panose="02040502050405020303" pitchFamily="18" charset="0"/>
            </a:endParaRPr>
          </a:p>
          <a:p>
            <a:r>
              <a:rPr lang="en-US" dirty="0" smtClean="0">
                <a:latin typeface="Georgia" panose="02040502050405020303" pitchFamily="18" charset="0"/>
              </a:rPr>
              <a:t>The </a:t>
            </a:r>
            <a:r>
              <a:rPr lang="en-US" dirty="0">
                <a:latin typeface="Georgia" panose="02040502050405020303" pitchFamily="18" charset="0"/>
              </a:rPr>
              <a:t>first communications were between a research center at the </a:t>
            </a:r>
            <a:r>
              <a:rPr lang="en-US" b="1" dirty="0">
                <a:latin typeface="Georgia" panose="02040502050405020303" pitchFamily="18" charset="0"/>
              </a:rPr>
              <a:t>University of California</a:t>
            </a:r>
            <a:r>
              <a:rPr lang="en-US" dirty="0">
                <a:latin typeface="Georgia" panose="02040502050405020303" pitchFamily="18" charset="0"/>
              </a:rPr>
              <a:t> at Los Angeles and a center at the </a:t>
            </a:r>
            <a:r>
              <a:rPr lang="en-US" b="1" dirty="0">
                <a:latin typeface="Georgia" panose="02040502050405020303" pitchFamily="18" charset="0"/>
              </a:rPr>
              <a:t>Stanford Research Institute</a:t>
            </a:r>
            <a:r>
              <a:rPr lang="en-US" dirty="0" smtClean="0">
                <a:latin typeface="Georgia" panose="02040502050405020303" pitchFamily="18" charset="0"/>
              </a:rPr>
              <a:t>.</a:t>
            </a:r>
          </a:p>
          <a:p>
            <a:r>
              <a:rPr lang="en-US" dirty="0">
                <a:latin typeface="Georgia" panose="02040502050405020303" pitchFamily="18" charset="0"/>
              </a:rPr>
              <a:t>The plan was unprecedented: </a:t>
            </a:r>
            <a:r>
              <a:rPr lang="en-US" dirty="0" err="1">
                <a:latin typeface="Georgia" panose="02040502050405020303" pitchFamily="18" charset="0"/>
              </a:rPr>
              <a:t>Kleinrock</a:t>
            </a:r>
            <a:r>
              <a:rPr lang="en-US" dirty="0">
                <a:latin typeface="Georgia" panose="02040502050405020303" pitchFamily="18" charset="0"/>
              </a:rPr>
              <a:t>, a pioneering computer science professor at UCLA, and his small group of graduate students hoped to log onto the Stanford computer and try to send it some data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4" name="Picture 4" descr="Kleinrock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11"/>
          <a:stretch>
            <a:fillRect/>
          </a:stretch>
        </p:blipFill>
        <p:spPr bwMode="auto">
          <a:xfrm>
            <a:off x="9594850" y="1957136"/>
            <a:ext cx="259715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399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History of the Internet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The first program used by </a:t>
            </a:r>
            <a:r>
              <a:rPr lang="en-US" dirty="0" smtClean="0">
                <a:solidFill>
                  <a:srgbClr val="FF0000"/>
                </a:solidFill>
                <a:latin typeface="Georgia" panose="02040502050405020303" pitchFamily="18" charset="0"/>
              </a:rPr>
              <a:t>ARPANET was the </a:t>
            </a:r>
            <a:r>
              <a:rPr lang="en-US" b="1" dirty="0" smtClean="0">
                <a:latin typeface="Georgia" panose="02040502050405020303" pitchFamily="18" charset="0"/>
              </a:rPr>
              <a:t>Network Control </a:t>
            </a:r>
            <a:r>
              <a:rPr lang="en-US" b="1" dirty="0">
                <a:latin typeface="Georgia" panose="02040502050405020303" pitchFamily="18" charset="0"/>
              </a:rPr>
              <a:t>Program (NCP) host-to-host protocol</a:t>
            </a:r>
            <a:r>
              <a:rPr lang="en-US" dirty="0" smtClean="0">
                <a:latin typeface="Georgia" panose="02040502050405020303" pitchFamily="18" charset="0"/>
              </a:rPr>
              <a:t>. </a:t>
            </a:r>
            <a:r>
              <a:rPr lang="en-US" dirty="0" smtClean="0">
                <a:latin typeface="Georgia" panose="02040502050405020303" pitchFamily="18" charset="0"/>
              </a:rPr>
              <a:t>In 1983 it was replaced by </a:t>
            </a:r>
            <a:r>
              <a:rPr lang="en-US" dirty="0">
                <a:solidFill>
                  <a:srgbClr val="FF0000"/>
                </a:solidFill>
                <a:latin typeface="Georgia" panose="02040502050405020303" pitchFamily="18" charset="0"/>
              </a:rPr>
              <a:t>(Transmission Control Protocol/Internet Protocol)</a:t>
            </a:r>
            <a:r>
              <a:rPr lang="en-US" dirty="0" smtClean="0">
                <a:latin typeface="Georgia" panose="02040502050405020303" pitchFamily="18" charset="0"/>
              </a:rPr>
              <a:t> </a:t>
            </a:r>
            <a:r>
              <a:rPr lang="en-US" dirty="0" smtClean="0">
                <a:latin typeface="Georgia" panose="02040502050405020303" pitchFamily="18" charset="0"/>
              </a:rPr>
              <a:t>internet protocol which became the most widely used network protocol in the world.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In 1990 ARPANET was transferred to </a:t>
            </a:r>
            <a:r>
              <a:rPr lang="en-US" dirty="0" smtClean="0">
                <a:solidFill>
                  <a:srgbClr val="FF0000"/>
                </a:solidFill>
                <a:latin typeface="Georgia" panose="02040502050405020303" pitchFamily="18" charset="0"/>
              </a:rPr>
              <a:t>NSFNET</a:t>
            </a:r>
            <a:r>
              <a:rPr lang="en-US" dirty="0" smtClean="0">
                <a:latin typeface="Georgia" panose="02040502050405020303" pitchFamily="18" charset="0"/>
              </a:rPr>
              <a:t> (National Science Foundations net) which was then connected to the CSNET (Computer Science net) </a:t>
            </a:r>
            <a:r>
              <a:rPr lang="en-US" b="1" dirty="0" smtClean="0">
                <a:latin typeface="Georgia" panose="02040502050405020303" pitchFamily="18" charset="0"/>
              </a:rPr>
              <a:t>this linked Universities around North America.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It was then connected to the EUNET (European network) that connected research centers in Europe.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819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609600"/>
          </a:xfrm>
        </p:spPr>
        <p:txBody>
          <a:bodyPr/>
          <a:lstStyle/>
          <a:p>
            <a:r>
              <a:rPr lang="en-US" b="1" dirty="0" smtClean="0">
                <a:latin typeface="Georgia" panose="02040502050405020303" pitchFamily="18" charset="0"/>
              </a:rPr>
              <a:t>History of the internet</a:t>
            </a:r>
            <a:endParaRPr lang="en-US" b="1" dirty="0">
              <a:latin typeface="Georgia" panose="02040502050405020303" pitchFamily="18" charset="0"/>
            </a:endParaRPr>
          </a:p>
        </p:txBody>
      </p:sp>
      <p:pic>
        <p:nvPicPr>
          <p:cNvPr id="46084" name="Picture 4" descr="http://www.cs.ucla.edu/~lk/pictures/lksm.gif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1206260"/>
            <a:ext cx="1354137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098" name="Rectangle 18"/>
          <p:cNvSpPr>
            <a:spLocks noChangeArrowheads="1"/>
          </p:cNvSpPr>
          <p:nvPr/>
        </p:nvSpPr>
        <p:spPr bwMode="auto">
          <a:xfrm>
            <a:off x="8643938" y="5486400"/>
            <a:ext cx="260039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 dirty="0" smtClean="0"/>
              <a:t>     Bill </a:t>
            </a:r>
            <a:r>
              <a:rPr lang="en-US" sz="3200" dirty="0"/>
              <a:t>Naylor</a:t>
            </a:r>
          </a:p>
        </p:txBody>
      </p:sp>
      <p:grpSp>
        <p:nvGrpSpPr>
          <p:cNvPr id="46120" name="Group 40"/>
          <p:cNvGrpSpPr>
            <a:grpSpLocks/>
          </p:cNvGrpSpPr>
          <p:nvPr/>
        </p:nvGrpSpPr>
        <p:grpSpPr bwMode="auto">
          <a:xfrm>
            <a:off x="5803639" y="1754470"/>
            <a:ext cx="2819400" cy="3517900"/>
            <a:chOff x="2448" y="2304"/>
            <a:chExt cx="1776" cy="2216"/>
          </a:xfrm>
        </p:grpSpPr>
        <p:sp>
          <p:nvSpPr>
            <p:cNvPr id="46099" name="Rectangle 19"/>
            <p:cNvSpPr>
              <a:spLocks noChangeArrowheads="1"/>
            </p:cNvSpPr>
            <p:nvPr/>
          </p:nvSpPr>
          <p:spPr bwMode="auto">
            <a:xfrm>
              <a:off x="2774" y="3360"/>
              <a:ext cx="132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200"/>
                <a:t>Jon Postel</a:t>
              </a:r>
            </a:p>
          </p:txBody>
        </p:sp>
        <p:pic>
          <p:nvPicPr>
            <p:cNvPr id="46103" name="Picture 23" descr="http://www.livinginternet.com/g/postel_jonathan.jpg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2" y="2304"/>
              <a:ext cx="900" cy="10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114" name="Rectangle 34"/>
            <p:cNvSpPr>
              <a:spLocks noChangeArrowheads="1"/>
            </p:cNvSpPr>
            <p:nvPr/>
          </p:nvSpPr>
          <p:spPr bwMode="auto">
            <a:xfrm>
              <a:off x="2448" y="3686"/>
              <a:ext cx="1776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/>
                <a:t>developed Domain Name System, FTP, Telnet, and the Internet Protocol. </a:t>
              </a:r>
            </a:p>
          </p:txBody>
        </p:sp>
      </p:grpSp>
      <p:grpSp>
        <p:nvGrpSpPr>
          <p:cNvPr id="46121" name="Group 41"/>
          <p:cNvGrpSpPr>
            <a:grpSpLocks/>
          </p:cNvGrpSpPr>
          <p:nvPr/>
        </p:nvGrpSpPr>
        <p:grpSpPr bwMode="auto">
          <a:xfrm>
            <a:off x="3143652" y="1925920"/>
            <a:ext cx="2857500" cy="3700180"/>
            <a:chOff x="1248" y="1968"/>
            <a:chExt cx="1800" cy="1896"/>
          </a:xfrm>
        </p:grpSpPr>
        <p:pic>
          <p:nvPicPr>
            <p:cNvPr id="46091" name="Picture 11" descr="http://www.livinginternet.com/g/crocker.jpg">
              <a:hlinkClick r:id="rId6"/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8" y="2784"/>
              <a:ext cx="720" cy="1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097" name="Rectangle 17"/>
            <p:cNvSpPr>
              <a:spLocks noChangeArrowheads="1"/>
            </p:cNvSpPr>
            <p:nvPr/>
          </p:nvSpPr>
          <p:spPr bwMode="auto">
            <a:xfrm>
              <a:off x="1296" y="1968"/>
              <a:ext cx="175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200" dirty="0"/>
                <a:t>Steve Crocker</a:t>
              </a:r>
            </a:p>
          </p:txBody>
        </p:sp>
        <p:sp>
          <p:nvSpPr>
            <p:cNvPr id="46115" name="Rectangle 35"/>
            <p:cNvSpPr>
              <a:spLocks noChangeArrowheads="1"/>
            </p:cNvSpPr>
            <p:nvPr/>
          </p:nvSpPr>
          <p:spPr bwMode="auto">
            <a:xfrm>
              <a:off x="1248" y="2304"/>
              <a:ext cx="1632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 dirty="0"/>
                <a:t>developed ARPANET network protocol</a:t>
              </a:r>
            </a:p>
          </p:txBody>
        </p:sp>
      </p:grpSp>
      <p:grpSp>
        <p:nvGrpSpPr>
          <p:cNvPr id="46119" name="Group 39"/>
          <p:cNvGrpSpPr>
            <a:grpSpLocks/>
          </p:cNvGrpSpPr>
          <p:nvPr/>
        </p:nvGrpSpPr>
        <p:grpSpPr bwMode="auto">
          <a:xfrm>
            <a:off x="8772525" y="3384550"/>
            <a:ext cx="3030538" cy="2241550"/>
            <a:chOff x="3888" y="2064"/>
            <a:chExt cx="1909" cy="1412"/>
          </a:xfrm>
        </p:grpSpPr>
        <p:sp>
          <p:nvSpPr>
            <p:cNvPr id="46100" name="Rectangle 20"/>
            <p:cNvSpPr>
              <a:spLocks noChangeArrowheads="1"/>
            </p:cNvSpPr>
            <p:nvPr/>
          </p:nvSpPr>
          <p:spPr bwMode="auto">
            <a:xfrm>
              <a:off x="4001" y="2064"/>
              <a:ext cx="179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200"/>
                <a:t>Mike Wingfield</a:t>
              </a:r>
            </a:p>
          </p:txBody>
        </p:sp>
        <p:sp>
          <p:nvSpPr>
            <p:cNvPr id="46116" name="Rectangle 36"/>
            <p:cNvSpPr>
              <a:spLocks noChangeArrowheads="1"/>
            </p:cNvSpPr>
            <p:nvPr/>
          </p:nvSpPr>
          <p:spPr bwMode="auto">
            <a:xfrm>
              <a:off x="3888" y="2448"/>
              <a:ext cx="1872" cy="10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lang="en-US" sz="2000" dirty="0" err="1"/>
                <a:t>Wingfield</a:t>
              </a:r>
              <a:r>
                <a:rPr lang="en-US" sz="2000" dirty="0"/>
                <a:t> built the hardware interface between the UCLA computer and the first IMP</a:t>
              </a:r>
            </a:p>
          </p:txBody>
        </p:sp>
      </p:grpSp>
      <p:grpSp>
        <p:nvGrpSpPr>
          <p:cNvPr id="46118" name="Group 38"/>
          <p:cNvGrpSpPr>
            <a:grpSpLocks/>
          </p:cNvGrpSpPr>
          <p:nvPr/>
        </p:nvGrpSpPr>
        <p:grpSpPr bwMode="auto">
          <a:xfrm>
            <a:off x="871537" y="1577975"/>
            <a:ext cx="2227263" cy="3756025"/>
            <a:chOff x="0" y="1968"/>
            <a:chExt cx="1403" cy="2366"/>
          </a:xfrm>
        </p:grpSpPr>
        <p:pic>
          <p:nvPicPr>
            <p:cNvPr id="46087" name="Picture 7" descr="Cerf.gif (22390 bytes)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" y="1968"/>
              <a:ext cx="1120" cy="14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088" name="Rectangle 8"/>
            <p:cNvSpPr>
              <a:spLocks noChangeArrowheads="1"/>
            </p:cNvSpPr>
            <p:nvPr/>
          </p:nvSpPr>
          <p:spPr bwMode="auto">
            <a:xfrm>
              <a:off x="0" y="3504"/>
              <a:ext cx="140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200"/>
                <a:t>Vinton Cerf</a:t>
              </a:r>
            </a:p>
          </p:txBody>
        </p:sp>
        <p:sp>
          <p:nvSpPr>
            <p:cNvPr id="46117" name="Rectangle 37"/>
            <p:cNvSpPr>
              <a:spLocks noChangeArrowheads="1"/>
            </p:cNvSpPr>
            <p:nvPr/>
          </p:nvSpPr>
          <p:spPr bwMode="auto">
            <a:xfrm>
              <a:off x="144" y="3888"/>
              <a:ext cx="1152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2000"/>
                <a:t>develop TCP/IP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9105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History of the 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 smtClean="0">
                <a:latin typeface="Georgia" panose="02040502050405020303" pitchFamily="18" charset="0"/>
              </a:rPr>
              <a:t>E-mail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Program developed by </a:t>
            </a:r>
            <a:r>
              <a:rPr lang="en-US" b="1" dirty="0" smtClean="0">
                <a:latin typeface="Georgia" panose="02040502050405020303" pitchFamily="18" charset="0"/>
              </a:rPr>
              <a:t>Ray Tomlinson in 1972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@ symbol was introduced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1973 -</a:t>
            </a:r>
            <a:r>
              <a:rPr lang="en-US" b="1" dirty="0" smtClean="0">
                <a:latin typeface="Georgia" panose="02040502050405020303" pitchFamily="18" charset="0"/>
              </a:rPr>
              <a:t>75% of the traffic was E-mail</a:t>
            </a:r>
            <a:endParaRPr lang="en-US" b="1" dirty="0">
              <a:latin typeface="Georgia" panose="02040502050405020303" pitchFamily="18" charset="0"/>
            </a:endParaRPr>
          </a:p>
        </p:txBody>
      </p:sp>
      <p:pic>
        <p:nvPicPr>
          <p:cNvPr id="4" name="Picture 2" descr="Email Hosting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7101" y="3673650"/>
            <a:ext cx="3165590" cy="318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691" y="1319349"/>
            <a:ext cx="5209309" cy="553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9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242" y="1419726"/>
            <a:ext cx="8289758" cy="543827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b="1" dirty="0">
                <a:latin typeface="Georgia" panose="02040502050405020303" pitchFamily="18" charset="0"/>
              </a:rPr>
              <a:t>1973</a:t>
            </a:r>
            <a:r>
              <a:rPr lang="en-US" dirty="0">
                <a:latin typeface="Georgia" panose="02040502050405020303" pitchFamily="18" charset="0"/>
              </a:rPr>
              <a:t> - Global Networking becomes a reality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eorgia" panose="02040502050405020303" pitchFamily="18" charset="0"/>
              </a:rPr>
              <a:t>First international connections to the ARPANET: </a:t>
            </a:r>
            <a:r>
              <a:rPr lang="en-US" b="1" dirty="0">
                <a:latin typeface="Georgia" panose="02040502050405020303" pitchFamily="18" charset="0"/>
              </a:rPr>
              <a:t>University College of London (England) and Royal Radar Establishment (Norway)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b="1" dirty="0">
                <a:latin typeface="Georgia" panose="02040502050405020303" pitchFamily="18" charset="0"/>
              </a:rPr>
              <a:t>1974</a:t>
            </a:r>
            <a:r>
              <a:rPr lang="en-US" dirty="0">
                <a:latin typeface="Georgia" panose="02040502050405020303" pitchFamily="18" charset="0"/>
              </a:rPr>
              <a:t> - Packets become mode of transfer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eorgia" panose="02040502050405020303" pitchFamily="18" charset="0"/>
              </a:rPr>
              <a:t>Transmission Control Program (TCP) specified. Packet network Intercommunication -- the basis of Internet Communication. </a:t>
            </a:r>
          </a:p>
          <a:p>
            <a:pPr>
              <a:lnSpc>
                <a:spcPct val="90000"/>
              </a:lnSpc>
            </a:pPr>
            <a:r>
              <a:rPr lang="en-US" dirty="0" err="1">
                <a:latin typeface="Georgia" panose="02040502050405020303" pitchFamily="18" charset="0"/>
              </a:rPr>
              <a:t>Telenet</a:t>
            </a:r>
            <a:r>
              <a:rPr lang="en-US" dirty="0">
                <a:latin typeface="Georgia" panose="02040502050405020303" pitchFamily="18" charset="0"/>
              </a:rPr>
              <a:t>, a commercial version of ARPANET, opened -- the first public packet data service.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b="1" dirty="0">
                <a:latin typeface="Georgia" panose="02040502050405020303" pitchFamily="18" charset="0"/>
              </a:rPr>
              <a:t>1976</a:t>
            </a:r>
            <a:r>
              <a:rPr lang="en-US" dirty="0">
                <a:latin typeface="Georgia" panose="02040502050405020303" pitchFamily="18" charset="0"/>
              </a:rPr>
              <a:t> - Networking comes to many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Georgia" panose="02040502050405020303" pitchFamily="18" charset="0"/>
              </a:rPr>
              <a:t>Queen Elizabeth sends out an e-mail.</a:t>
            </a:r>
          </a:p>
        </p:txBody>
      </p:sp>
      <p:graphicFrame>
        <p:nvGraphicFramePr>
          <p:cNvPr id="24581" name="Object 5"/>
          <p:cNvGraphicFramePr>
            <a:graphicFrameLocks noChangeAspect="1"/>
          </p:cNvGraphicFramePr>
          <p:nvPr>
            <p:extLst/>
          </p:nvPr>
        </p:nvGraphicFramePr>
        <p:xfrm>
          <a:off x="9498431" y="1674812"/>
          <a:ext cx="1739900" cy="174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Clip" r:id="rId3" imgW="1664208" imgH="1666951" progId="">
                  <p:embed/>
                </p:oleObj>
              </mc:Choice>
              <mc:Fallback>
                <p:oleObj name="Clip" r:id="rId3" imgW="1664208" imgH="1666951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8431" y="1674812"/>
                        <a:ext cx="1739900" cy="174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582" name="Picture 6" descr="Her Majesty Queen Elizabeth II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431" y="3919538"/>
            <a:ext cx="2047875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History of the internet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69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06116" y="0"/>
            <a:ext cx="9176084" cy="114300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History of the internet</a:t>
            </a:r>
            <a:endParaRPr 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9232" y="1491916"/>
            <a:ext cx="10198768" cy="5149516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b="1" dirty="0">
                <a:latin typeface="Georgia" panose="02040502050405020303" pitchFamily="18" charset="0"/>
              </a:rPr>
              <a:t>1982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sz="2800" dirty="0">
                <a:latin typeface="Georgia" panose="02040502050405020303" pitchFamily="18" charset="0"/>
              </a:rPr>
              <a:t>- TCP/IP defines future communication •DCA and ARPA establishes the Transmission Control Protocol (TCP) and Internet Protocol (IP), as the protocol suite, commonly known as TCP/IP, for ARPANET. </a:t>
            </a:r>
          </a:p>
          <a:p>
            <a:r>
              <a:rPr lang="en-US" sz="2800" dirty="0">
                <a:latin typeface="Georgia" panose="02040502050405020303" pitchFamily="18" charset="0"/>
              </a:rPr>
              <a:t>Leads to </a:t>
            </a:r>
            <a:r>
              <a:rPr lang="en-US" sz="2800" i="1" dirty="0">
                <a:latin typeface="Georgia" panose="02040502050405020303" pitchFamily="18" charset="0"/>
              </a:rPr>
              <a:t>one of the first definitions of an Internet</a:t>
            </a:r>
            <a:r>
              <a:rPr lang="en-US" sz="2800" dirty="0">
                <a:latin typeface="Georgia" panose="02040502050405020303" pitchFamily="18" charset="0"/>
              </a:rPr>
              <a:t> as a connected set of networks, specifically those using TCP/IP.</a:t>
            </a:r>
          </a:p>
          <a:p>
            <a:pPr>
              <a:buFontTx/>
              <a:buNone/>
            </a:pPr>
            <a:r>
              <a:rPr lang="en-US" b="1" dirty="0">
                <a:latin typeface="Georgia" panose="02040502050405020303" pitchFamily="18" charset="0"/>
              </a:rPr>
              <a:t>1983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sz="2800" dirty="0">
                <a:latin typeface="Georgia" panose="02040502050405020303" pitchFamily="18" charset="0"/>
              </a:rPr>
              <a:t>- Internet gets larger </a:t>
            </a:r>
          </a:p>
          <a:p>
            <a:pPr>
              <a:buFontTx/>
              <a:buNone/>
            </a:pPr>
            <a:r>
              <a:rPr lang="en-US" sz="2800" dirty="0">
                <a:latin typeface="Georgia" panose="02040502050405020303" pitchFamily="18" charset="0"/>
              </a:rPr>
              <a:t>Name server developed. </a:t>
            </a:r>
          </a:p>
          <a:p>
            <a:r>
              <a:rPr lang="en-US" sz="2800" b="1" dirty="0">
                <a:latin typeface="Georgia" panose="02040502050405020303" pitchFamily="18" charset="0"/>
              </a:rPr>
              <a:t>There is such a large number of nodes that its hard to remember exact paths</a:t>
            </a:r>
          </a:p>
          <a:p>
            <a:r>
              <a:rPr lang="en-US" sz="2800" dirty="0">
                <a:latin typeface="Georgia" panose="02040502050405020303" pitchFamily="18" charset="0"/>
              </a:rPr>
              <a:t>Use meaningful names instead. </a:t>
            </a:r>
          </a:p>
        </p:txBody>
      </p:sp>
    </p:spTree>
    <p:extLst>
      <p:ext uri="{BB962C8B-B14F-4D97-AF65-F5344CB8AC3E}">
        <p14:creationId xmlns:p14="http://schemas.microsoft.com/office/powerpoint/2010/main" val="6749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History of the 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1600200"/>
            <a:ext cx="9126028" cy="4572000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 smtClean="0">
                <a:latin typeface="Georgia" panose="02040502050405020303" pitchFamily="18" charset="0"/>
              </a:rPr>
              <a:t>Domain Name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In 1984, the development of </a:t>
            </a:r>
            <a:r>
              <a:rPr lang="en-US" b="1" dirty="0" smtClean="0">
                <a:latin typeface="Georgia" panose="02040502050405020303" pitchFamily="18" charset="0"/>
              </a:rPr>
              <a:t>domain name services</a:t>
            </a:r>
            <a:r>
              <a:rPr lang="en-US" dirty="0" smtClean="0">
                <a:latin typeface="Georgia" panose="02040502050405020303" pitchFamily="18" charset="0"/>
              </a:rPr>
              <a:t> introduced to </a:t>
            </a:r>
            <a:r>
              <a:rPr lang="en-US" dirty="0" smtClean="0">
                <a:latin typeface="Georgia" panose="02040502050405020303" pitchFamily="18" charset="0"/>
              </a:rPr>
              <a:t>people</a:t>
            </a:r>
          </a:p>
          <a:p>
            <a:r>
              <a:rPr lang="en-US" dirty="0">
                <a:latin typeface="Georgia" panose="02040502050405020303" pitchFamily="18" charset="0"/>
              </a:rPr>
              <a:t>Domain Name System (DNS), which translates user-friendly domain names into </a:t>
            </a:r>
            <a:r>
              <a:rPr lang="en-US" dirty="0">
                <a:solidFill>
                  <a:srgbClr val="FF0000"/>
                </a:solidFill>
                <a:latin typeface="Georgia" panose="02040502050405020303" pitchFamily="18" charset="0"/>
              </a:rPr>
              <a:t>numerical IP addresses</a:t>
            </a:r>
            <a:r>
              <a:rPr lang="en-US" dirty="0">
                <a:latin typeface="Georgia" panose="02040502050405020303" pitchFamily="18" charset="0"/>
              </a:rPr>
              <a:t>, and domain name registrars, which allow users to register and manage domain names.</a:t>
            </a:r>
            <a:endParaRPr lang="en-US" dirty="0" smtClean="0">
              <a:latin typeface="Georgia" panose="02040502050405020303" pitchFamily="18" charset="0"/>
            </a:endParaRPr>
          </a:p>
          <a:p>
            <a:r>
              <a:rPr lang="en-US" dirty="0" smtClean="0">
                <a:latin typeface="Georgia" panose="02040502050405020303" pitchFamily="18" charset="0"/>
              </a:rPr>
              <a:t>To </a:t>
            </a:r>
            <a:r>
              <a:rPr lang="en-US" b="1" dirty="0" smtClean="0">
                <a:latin typeface="Georgia" panose="02040502050405020303" pitchFamily="18" charset="0"/>
              </a:rPr>
              <a:t>easily find and identify computers</a:t>
            </a:r>
            <a:r>
              <a:rPr lang="en-US" dirty="0" smtClean="0">
                <a:latin typeface="Georgia" panose="02040502050405020303" pitchFamily="18" charset="0"/>
              </a:rPr>
              <a:t> linked to the </a:t>
            </a:r>
            <a:r>
              <a:rPr lang="en-US" dirty="0" smtClean="0">
                <a:latin typeface="Georgia" panose="02040502050405020303" pitchFamily="18" charset="0"/>
              </a:rPr>
              <a:t>internet.</a:t>
            </a:r>
          </a:p>
          <a:p>
            <a:r>
              <a:rPr lang="en-US" b="1" u="sng" dirty="0" smtClean="0">
                <a:solidFill>
                  <a:srgbClr val="FF0000"/>
                </a:solidFill>
                <a:latin typeface="Georgia" panose="02040502050405020303" pitchFamily="18" charset="0"/>
              </a:rPr>
              <a:t>Who owns domains?</a:t>
            </a:r>
            <a:endParaRPr lang="en-US" b="1" u="sng" dirty="0" smtClean="0">
              <a:solidFill>
                <a:srgbClr val="FF0000"/>
              </a:solidFill>
              <a:latin typeface="Georgia" panose="02040502050405020303" pitchFamily="18" charset="0"/>
            </a:endParaRPr>
          </a:p>
          <a:p>
            <a:r>
              <a:rPr lang="en-US" dirty="0" smtClean="0">
                <a:latin typeface="Georgia" panose="02040502050405020303" pitchFamily="18" charset="0"/>
              </a:rPr>
              <a:t>ICANN </a:t>
            </a:r>
            <a:r>
              <a:rPr lang="en-US" dirty="0">
                <a:latin typeface="Georgia" panose="02040502050405020303" pitchFamily="18" charset="0"/>
              </a:rPr>
              <a:t>(Internet Corporation for Assigned Names and Numbers</a:t>
            </a:r>
            <a:r>
              <a:rPr lang="en-US" dirty="0" smtClean="0">
                <a:latin typeface="Georgia" panose="02040502050405020303" pitchFamily="18" charset="0"/>
              </a:rPr>
              <a:t>):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 </a:t>
            </a:r>
            <a:r>
              <a:rPr lang="en-US" dirty="0">
                <a:latin typeface="Georgia" panose="02040502050405020303" pitchFamily="18" charset="0"/>
              </a:rPr>
              <a:t>A non-profit organization that coordinates the domain name </a:t>
            </a:r>
            <a:r>
              <a:rPr lang="en-US" dirty="0" smtClean="0">
                <a:latin typeface="Georgia" panose="02040502050405020303" pitchFamily="18" charset="0"/>
              </a:rPr>
              <a:t>system</a:t>
            </a:r>
          </a:p>
          <a:p>
            <a:pPr marL="0" indent="0">
              <a:buNone/>
            </a:pPr>
            <a:r>
              <a:rPr lang="en-US" dirty="0" smtClean="0">
                <a:latin typeface="Georgia" panose="02040502050405020303" pitchFamily="18" charset="0"/>
              </a:rPr>
              <a:t> and </a:t>
            </a:r>
            <a:r>
              <a:rPr lang="en-US" dirty="0">
                <a:latin typeface="Georgia" panose="02040502050405020303" pitchFamily="18" charset="0"/>
              </a:rPr>
              <a:t>is ultimately in charge of domain names.</a:t>
            </a:r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5" name="Picture 2" descr="http://images.google.com/url?source=imgres&amp;ct=img&amp;q=http://www.dn-trade.com/img/domain-name-trading.gif&amp;usg=AFQjCNHtdWFn_mTnC9ZH03YHuFhuvmiCj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66088" y="3032390"/>
            <a:ext cx="2900958" cy="3008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9837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History of the 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1600200"/>
            <a:ext cx="7307580" cy="4572000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 smtClean="0">
                <a:latin typeface="Georgia" panose="02040502050405020303" pitchFamily="18" charset="0"/>
              </a:rPr>
              <a:t>The World Wide Web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In 1990, Tim Berners-Lee coined the term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It saved the internet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Created three things necessary for a working web </a:t>
            </a:r>
          </a:p>
          <a:p>
            <a:pPr lvl="1"/>
            <a:r>
              <a:rPr lang="en-US" b="1" dirty="0" smtClean="0">
                <a:latin typeface="Georgia" panose="02040502050405020303" pitchFamily="18" charset="0"/>
              </a:rPr>
              <a:t>First web server</a:t>
            </a:r>
          </a:p>
          <a:p>
            <a:pPr lvl="1"/>
            <a:r>
              <a:rPr lang="en-US" b="1" dirty="0" smtClean="0">
                <a:latin typeface="Georgia" panose="02040502050405020303" pitchFamily="18" charset="0"/>
              </a:rPr>
              <a:t>First web browser  called </a:t>
            </a:r>
            <a:r>
              <a:rPr lang="en-US" b="1" dirty="0" err="1" smtClean="0">
                <a:latin typeface="Georgia" panose="02040502050405020303" pitchFamily="18" charset="0"/>
              </a:rPr>
              <a:t>worldwideweb</a:t>
            </a:r>
            <a:r>
              <a:rPr lang="en-US" b="1" dirty="0" smtClean="0">
                <a:latin typeface="Georgia" panose="02040502050405020303" pitchFamily="18" charset="0"/>
              </a:rPr>
              <a:t> later known as  </a:t>
            </a:r>
            <a:r>
              <a:rPr lang="en-US" b="1" dirty="0" err="1" smtClean="0">
                <a:latin typeface="Georgia" panose="02040502050405020303" pitchFamily="18" charset="0"/>
              </a:rPr>
              <a:t>NEXUS,but</a:t>
            </a:r>
            <a:r>
              <a:rPr lang="en-US" b="1" dirty="0" smtClean="0">
                <a:latin typeface="Georgia" panose="02040502050405020303" pitchFamily="18" charset="0"/>
              </a:rPr>
              <a:t> doesn’t display graphics</a:t>
            </a:r>
          </a:p>
          <a:p>
            <a:pPr lvl="1"/>
            <a:r>
              <a:rPr lang="en-US" b="1" dirty="0" smtClean="0">
                <a:latin typeface="Georgia" panose="02040502050405020303" pitchFamily="18" charset="0"/>
              </a:rPr>
              <a:t>Web page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4" name="Picture 3" descr="firstwe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098" y="1684700"/>
            <a:ext cx="3621542" cy="2601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582" y="4370750"/>
            <a:ext cx="3560058" cy="248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97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History of the 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 smtClean="0">
                <a:latin typeface="Georgia" panose="02040502050405020303" pitchFamily="18" charset="0"/>
              </a:rPr>
              <a:t>1990 and on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Fueled by the popularity of the web, the use of the internet </a:t>
            </a:r>
            <a:r>
              <a:rPr lang="en-US" b="1" dirty="0" smtClean="0">
                <a:solidFill>
                  <a:srgbClr val="FF0000"/>
                </a:solidFill>
                <a:latin typeface="Georgia" panose="02040502050405020303" pitchFamily="18" charset="0"/>
              </a:rPr>
              <a:t>exploded after 1990</a:t>
            </a:r>
            <a:r>
              <a:rPr lang="en-US" dirty="0" smtClean="0">
                <a:latin typeface="Georgia" panose="02040502050405020303" pitchFamily="18" charset="0"/>
              </a:rPr>
              <a:t>, this forced the US Government to turnover management of the net to </a:t>
            </a:r>
            <a:r>
              <a:rPr lang="en-US" b="1" dirty="0" smtClean="0">
                <a:latin typeface="Georgia" panose="02040502050405020303" pitchFamily="18" charset="0"/>
              </a:rPr>
              <a:t>independent organizations</a:t>
            </a:r>
            <a:r>
              <a:rPr lang="en-US" dirty="0" smtClean="0">
                <a:latin typeface="Georgia" panose="02040502050405020303" pitchFamily="18" charset="0"/>
              </a:rPr>
              <a:t> beginning in 1995.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That brings us to the </a:t>
            </a:r>
            <a:r>
              <a:rPr lang="en-US" dirty="0" smtClean="0">
                <a:solidFill>
                  <a:srgbClr val="FF0000"/>
                </a:solidFill>
                <a:latin typeface="Georgia" panose="02040502050405020303" pitchFamily="18" charset="0"/>
              </a:rPr>
              <a:t>modern day use of the World Wide Web (www.)</a:t>
            </a:r>
            <a:endParaRPr lang="en-US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883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History of the 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 smtClean="0">
                <a:latin typeface="Georgia" panose="02040502050405020303" pitchFamily="18" charset="0"/>
              </a:rPr>
              <a:t>WWW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In 1992, a group of students and researchers at the University of Illinois developed a sophisticated browser that they called </a:t>
            </a:r>
            <a:r>
              <a:rPr lang="en-US" b="1" dirty="0" smtClean="0">
                <a:solidFill>
                  <a:srgbClr val="FF0000"/>
                </a:solidFill>
                <a:latin typeface="Georgia" panose="02040502050405020303" pitchFamily="18" charset="0"/>
              </a:rPr>
              <a:t>Mosaic, later known as Netscape.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It offered a user-friendly way to search the Web: </a:t>
            </a:r>
            <a:r>
              <a:rPr lang="en-US" b="1" i="1" dirty="0" smtClean="0">
                <a:latin typeface="Georgia" panose="02040502050405020303" pitchFamily="18" charset="0"/>
              </a:rPr>
              <a:t>like allowing users to see words and pictures on the same page for the first time and to navigate using scrollbars and clickable links.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That same year, </a:t>
            </a:r>
            <a:r>
              <a:rPr lang="en-US" b="1" dirty="0" smtClean="0">
                <a:latin typeface="Georgia" panose="02040502050405020303" pitchFamily="18" charset="0"/>
              </a:rPr>
              <a:t>Congress decided that the Web could be used for commercial purposes</a:t>
            </a:r>
            <a:r>
              <a:rPr lang="en-US" dirty="0" smtClean="0">
                <a:latin typeface="Georgia" panose="02040502050405020303" pitchFamily="18" charset="0"/>
              </a:rPr>
              <a:t>. As a result, companies of all kinds hurried </a:t>
            </a:r>
            <a:r>
              <a:rPr lang="en-US" dirty="0" smtClean="0">
                <a:solidFill>
                  <a:srgbClr val="FF0000"/>
                </a:solidFill>
                <a:latin typeface="Georgia" panose="02040502050405020303" pitchFamily="18" charset="0"/>
              </a:rPr>
              <a:t>to set up websites </a:t>
            </a:r>
            <a:r>
              <a:rPr lang="en-US" dirty="0" smtClean="0">
                <a:latin typeface="Georgia" panose="02040502050405020303" pitchFamily="18" charset="0"/>
              </a:rPr>
              <a:t>of their own, and </a:t>
            </a:r>
            <a:r>
              <a:rPr lang="en-US" dirty="0" smtClean="0">
                <a:solidFill>
                  <a:srgbClr val="FF0000"/>
                </a:solidFill>
                <a:latin typeface="Georgia" panose="02040502050405020303" pitchFamily="18" charset="0"/>
              </a:rPr>
              <a:t>e-commerce entrepreneurs </a:t>
            </a:r>
            <a:r>
              <a:rPr lang="en-US" dirty="0" smtClean="0">
                <a:latin typeface="Georgia" panose="02040502050405020303" pitchFamily="18" charset="0"/>
              </a:rPr>
              <a:t>began to use the Internet to sell goods directly to customers.</a:t>
            </a:r>
          </a:p>
        </p:txBody>
      </p:sp>
    </p:spTree>
    <p:extLst>
      <p:ext uri="{BB962C8B-B14F-4D97-AF65-F5344CB8AC3E}">
        <p14:creationId xmlns:p14="http://schemas.microsoft.com/office/powerpoint/2010/main" val="258385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902368" y="0"/>
            <a:ext cx="9079832" cy="114300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History of the internet</a:t>
            </a:r>
            <a:endParaRPr lang="en-US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15978"/>
            <a:ext cx="4569823" cy="5221705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>
                <a:latin typeface="Georgia" panose="02040502050405020303" pitchFamily="18" charset="0"/>
              </a:rPr>
              <a:t>1993</a:t>
            </a:r>
            <a:r>
              <a:rPr lang="en-US" dirty="0" smtClean="0">
                <a:latin typeface="Georgia" panose="02040502050405020303" pitchFamily="18" charset="0"/>
              </a:rPr>
              <a:t> </a:t>
            </a:r>
            <a:r>
              <a:rPr lang="en-US" dirty="0">
                <a:latin typeface="Georgia" panose="02040502050405020303" pitchFamily="18" charset="0"/>
              </a:rPr>
              <a:t>- The WWW Revolution truly begins </a:t>
            </a:r>
          </a:p>
          <a:p>
            <a:r>
              <a:rPr lang="en-US" dirty="0">
                <a:latin typeface="Georgia" panose="02040502050405020303" pitchFamily="18" charset="0"/>
              </a:rPr>
              <a:t>Number of Hosts 2 Million. 600 WWW sites. </a:t>
            </a:r>
          </a:p>
          <a:p>
            <a:r>
              <a:rPr lang="en-US" dirty="0">
                <a:latin typeface="Georgia" panose="02040502050405020303" pitchFamily="18" charset="0"/>
              </a:rPr>
              <a:t>The Mosaic Web browser is released (by a group of 10 students from U of I at Champaign-Urbana) on the Net, gaining 2 million and fueling a 341,634% annual growth rate for Web traffic. 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5" name="Picture 4" descr="mosaic scre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2912" y="1293223"/>
            <a:ext cx="7543800" cy="5329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57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4921" y="0"/>
            <a:ext cx="8817279" cy="114300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History of the internet</a:t>
            </a:r>
            <a:endParaRPr 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427966"/>
            <a:ext cx="8915400" cy="1467633"/>
          </a:xfrm>
        </p:spPr>
        <p:txBody>
          <a:bodyPr/>
          <a:lstStyle/>
          <a:p>
            <a:pPr>
              <a:buFontTx/>
              <a:buNone/>
            </a:pPr>
            <a:r>
              <a:rPr lang="en-US" sz="3600" b="1" dirty="0">
                <a:latin typeface="Georgia" panose="02040502050405020303" pitchFamily="18" charset="0"/>
              </a:rPr>
              <a:t>1993</a:t>
            </a:r>
            <a:r>
              <a:rPr lang="en-US" sz="3600" dirty="0">
                <a:latin typeface="Georgia" panose="02040502050405020303" pitchFamily="18" charset="0"/>
              </a:rPr>
              <a:t> </a:t>
            </a:r>
            <a:r>
              <a:rPr lang="en-US" dirty="0">
                <a:latin typeface="Georgia" panose="02040502050405020303" pitchFamily="18" charset="0"/>
              </a:rPr>
              <a:t>- The WWW Revolution truly begins </a:t>
            </a:r>
          </a:p>
          <a:p>
            <a:r>
              <a:rPr lang="en-US" dirty="0">
                <a:latin typeface="Georgia" panose="02040502050405020303" pitchFamily="18" charset="0"/>
              </a:rPr>
              <a:t>The White House opens its Web page and the President gets an e-mail address.</a:t>
            </a:r>
          </a:p>
        </p:txBody>
      </p:sp>
      <p:pic>
        <p:nvPicPr>
          <p:cNvPr id="41991" name="Picture 7" descr="http://vimad3.viewimages.com/wm/NM014630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900" y="2503319"/>
            <a:ext cx="3124200" cy="208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1524000" y="4081463"/>
            <a:ext cx="9144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7813" indent="-2778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35000" indent="-1778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sz="2000" b="1" dirty="0">
                <a:latin typeface="Georgia" panose="02040502050405020303" pitchFamily="18" charset="0"/>
              </a:rPr>
              <a:t>Mosaic takes the Internet by storm. </a:t>
            </a:r>
          </a:p>
          <a:p>
            <a:pPr lvl="1">
              <a:buFontTx/>
              <a:buChar char="–"/>
            </a:pPr>
            <a:r>
              <a:rPr lang="en-US" sz="2000" b="1" dirty="0">
                <a:latin typeface="Georgia" panose="02040502050405020303" pitchFamily="18" charset="0"/>
              </a:rPr>
              <a:t>User Friendly Graphical Front End to the World Wide Web. </a:t>
            </a:r>
          </a:p>
          <a:p>
            <a:pPr lvl="1">
              <a:buFontTx/>
              <a:buChar char="–"/>
            </a:pPr>
            <a:r>
              <a:rPr lang="en-US" sz="2000" b="1" dirty="0">
                <a:latin typeface="Georgia" panose="02040502050405020303" pitchFamily="18" charset="0"/>
              </a:rPr>
              <a:t>Develops into Netscape -- most popular WWW browser to date</a:t>
            </a:r>
            <a:r>
              <a:rPr lang="en-US" sz="2000" dirty="0">
                <a:latin typeface="Georgia" panose="02040502050405020303" pitchFamily="18" charset="0"/>
              </a:rPr>
              <a:t>. </a:t>
            </a:r>
          </a:p>
        </p:txBody>
      </p:sp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1524000" y="2819400"/>
            <a:ext cx="57912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38138" indent="-3381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Business and Media really take notice of the Internet. </a:t>
            </a:r>
          </a:p>
        </p:txBody>
      </p:sp>
    </p:spTree>
    <p:extLst>
      <p:ext uri="{BB962C8B-B14F-4D97-AF65-F5344CB8AC3E}">
        <p14:creationId xmlns:p14="http://schemas.microsoft.com/office/powerpoint/2010/main" val="340522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History of the 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 smtClean="0">
                <a:latin typeface="Georgia" panose="02040502050405020303" pitchFamily="18" charset="0"/>
              </a:rPr>
              <a:t>Mosaic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Released in 1993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First Internet </a:t>
            </a:r>
            <a:r>
              <a:rPr lang="en-US" b="1" dirty="0" smtClean="0">
                <a:latin typeface="Georgia" panose="02040502050405020303" pitchFamily="18" charset="0"/>
              </a:rPr>
              <a:t>Web Browser</a:t>
            </a:r>
          </a:p>
          <a:p>
            <a:r>
              <a:rPr lang="en-US" b="1" dirty="0" smtClean="0">
                <a:latin typeface="Georgia" panose="02040502050405020303" pitchFamily="18" charset="0"/>
              </a:rPr>
              <a:t>First</a:t>
            </a:r>
            <a:r>
              <a:rPr lang="en-US" dirty="0" smtClean="0">
                <a:latin typeface="Georgia" panose="02040502050405020303" pitchFamily="18" charset="0"/>
              </a:rPr>
              <a:t> </a:t>
            </a:r>
            <a:r>
              <a:rPr lang="en-US" b="1" dirty="0" smtClean="0">
                <a:latin typeface="Georgia" panose="02040502050405020303" pitchFamily="18" charset="0"/>
              </a:rPr>
              <a:t>commercial software</a:t>
            </a:r>
            <a:r>
              <a:rPr lang="en-US" dirty="0" smtClean="0">
                <a:latin typeface="Georgia" panose="02040502050405020303" pitchFamily="18" charset="0"/>
              </a:rPr>
              <a:t> with graphical access to the content on the internet</a:t>
            </a:r>
          </a:p>
          <a:p>
            <a:r>
              <a:rPr lang="en-US" b="1" dirty="0" smtClean="0">
                <a:latin typeface="Georgia" panose="02040502050405020303" pitchFamily="18" charset="0"/>
              </a:rPr>
              <a:t>Very slow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Did not handle loading pictures well</a:t>
            </a:r>
          </a:p>
        </p:txBody>
      </p:sp>
    </p:spTree>
    <p:extLst>
      <p:ext uri="{BB962C8B-B14F-4D97-AF65-F5344CB8AC3E}">
        <p14:creationId xmlns:p14="http://schemas.microsoft.com/office/powerpoint/2010/main" val="237994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History of the 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 smtClean="0">
                <a:latin typeface="Georgia" panose="02040502050405020303" pitchFamily="18" charset="0"/>
              </a:rPr>
              <a:t>Browser Wars</a:t>
            </a:r>
          </a:p>
          <a:p>
            <a:r>
              <a:rPr lang="en-US" b="1" dirty="0" smtClean="0">
                <a:latin typeface="Georgia" panose="02040502050405020303" pitchFamily="18" charset="0"/>
              </a:rPr>
              <a:t>Netscape</a:t>
            </a:r>
            <a:r>
              <a:rPr lang="en-US" dirty="0" smtClean="0">
                <a:latin typeface="Georgia" panose="02040502050405020303" pitchFamily="18" charset="0"/>
              </a:rPr>
              <a:t> was the </a:t>
            </a:r>
            <a:r>
              <a:rPr lang="en-US" b="1" dirty="0" smtClean="0">
                <a:latin typeface="Georgia" panose="02040502050405020303" pitchFamily="18" charset="0"/>
              </a:rPr>
              <a:t>standard</a:t>
            </a:r>
            <a:r>
              <a:rPr lang="en-US" dirty="0" smtClean="0">
                <a:latin typeface="Georgia" panose="02040502050405020303" pitchFamily="18" charset="0"/>
              </a:rPr>
              <a:t> until 1998.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Microsoft internet explorer snagged </a:t>
            </a:r>
            <a:r>
              <a:rPr lang="en-US" b="1" dirty="0" smtClean="0">
                <a:latin typeface="Georgia" panose="02040502050405020303" pitchFamily="18" charset="0"/>
              </a:rPr>
              <a:t>96%</a:t>
            </a:r>
            <a:r>
              <a:rPr lang="en-US" dirty="0" smtClean="0">
                <a:latin typeface="Georgia" panose="02040502050405020303" pitchFamily="18" charset="0"/>
              </a:rPr>
              <a:t> of the browser market.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IE has only recently been challenged by the Mozilla browser and Google Chrome.</a:t>
            </a:r>
          </a:p>
        </p:txBody>
      </p:sp>
      <p:pic>
        <p:nvPicPr>
          <p:cNvPr id="5" name="Picture 4" descr="http://www.technama.com/wp-content/uploads/2009/07/browsers-icon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8410" y="3883060"/>
            <a:ext cx="2778644" cy="2974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80682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History of the 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 smtClean="0">
                <a:latin typeface="Georgia" panose="02040502050405020303" pitchFamily="18" charset="0"/>
              </a:rPr>
              <a:t>The explosion of the internet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1994 - 2000, internet exploded during this period.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The first commercial website amazon.com.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In 1994 the world wide web grew by an astounding 2300%.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Amazon saw the online shopping was the wave of the future.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The rest is history.</a:t>
            </a:r>
          </a:p>
        </p:txBody>
      </p:sp>
    </p:spTree>
    <p:extLst>
      <p:ext uri="{BB962C8B-B14F-4D97-AF65-F5344CB8AC3E}">
        <p14:creationId xmlns:p14="http://schemas.microsoft.com/office/powerpoint/2010/main" val="60088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History of the 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 smtClean="0">
                <a:latin typeface="Georgia" panose="02040502050405020303" pitchFamily="18" charset="0"/>
              </a:rPr>
              <a:t>Internet Stats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1996 – Approx. 45 million people using internet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1999 – 150 million users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2000 – 407 million users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2004 – between 600 – 800 million users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2009 – more than 1.5 billion users and increasing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2016 – (Mid 2016) Around 4.4 billion users</a:t>
            </a:r>
          </a:p>
        </p:txBody>
      </p:sp>
    </p:spTree>
    <p:extLst>
      <p:ext uri="{BB962C8B-B14F-4D97-AF65-F5344CB8AC3E}">
        <p14:creationId xmlns:p14="http://schemas.microsoft.com/office/powerpoint/2010/main" val="1690341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Wake up Quiz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1. The three major players behind the creation of internet are____?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2. The major reason behind the creation of internet is__?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3. </a:t>
            </a:r>
            <a:r>
              <a:rPr lang="en-US" dirty="0">
                <a:latin typeface="Georgia" panose="02040502050405020303" pitchFamily="18" charset="0"/>
              </a:rPr>
              <a:t>T</a:t>
            </a:r>
            <a:r>
              <a:rPr lang="en-US" dirty="0" smtClean="0">
                <a:latin typeface="Georgia" panose="02040502050405020303" pitchFamily="18" charset="0"/>
              </a:rPr>
              <a:t>he year internet come to life is____?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4.The first web browser is__?</a:t>
            </a:r>
          </a:p>
          <a:p>
            <a:r>
              <a:rPr lang="en-US" dirty="0">
                <a:latin typeface="Georgia" panose="02040502050405020303" pitchFamily="18" charset="0"/>
              </a:rPr>
              <a:t>5</a:t>
            </a:r>
            <a:r>
              <a:rPr lang="en-US" dirty="0" smtClean="0">
                <a:latin typeface="Georgia" panose="02040502050405020303" pitchFamily="18" charset="0"/>
              </a:rPr>
              <a:t>.Can the internet withstand the atomic bomb ?how?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753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1969--</a:t>
            </a:r>
            <a:r>
              <a:rPr lang="en-US" b="1" dirty="0" smtClean="0">
                <a:latin typeface="Georgia" panose="02040502050405020303" pitchFamily="18" charset="0"/>
              </a:rPr>
              <a:t>The Birth of the </a:t>
            </a:r>
            <a:r>
              <a:rPr lang="en-US" b="1" dirty="0" err="1" smtClean="0">
                <a:latin typeface="Georgia" panose="02040502050405020303" pitchFamily="18" charset="0"/>
              </a:rPr>
              <a:t>Internet,ARPANET</a:t>
            </a:r>
            <a:r>
              <a:rPr lang="en-US" dirty="0" smtClean="0">
                <a:latin typeface="Georgia" panose="02040502050405020303" pitchFamily="18" charset="0"/>
              </a:rPr>
              <a:t> computer network is launched, initially linking together </a:t>
            </a:r>
            <a:r>
              <a:rPr lang="en-US" b="1" dirty="0" smtClean="0">
                <a:latin typeface="Georgia" panose="02040502050405020303" pitchFamily="18" charset="0"/>
              </a:rPr>
              <a:t>four scientific institutions in California and Utah</a:t>
            </a:r>
          </a:p>
          <a:p>
            <a:r>
              <a:rPr lang="en-US" b="1" u="sng" dirty="0" smtClean="0">
                <a:latin typeface="Georgia" panose="02040502050405020303" pitchFamily="18" charset="0"/>
              </a:rPr>
              <a:t>1972--E-mail </a:t>
            </a:r>
            <a:r>
              <a:rPr lang="en-US" dirty="0" smtClean="0">
                <a:latin typeface="Georgia" panose="02040502050405020303" pitchFamily="18" charset="0"/>
              </a:rPr>
              <a:t>Program developed by Ray Tomlinson in 1972</a:t>
            </a:r>
            <a:endParaRPr lang="en-US" dirty="0" smtClean="0"/>
          </a:p>
          <a:p>
            <a:r>
              <a:rPr lang="en-US" dirty="0" smtClean="0"/>
              <a:t>1983   ---</a:t>
            </a:r>
            <a:r>
              <a:rPr lang="en-US" b="1" dirty="0" smtClean="0"/>
              <a:t>ARPANET adopted </a:t>
            </a:r>
            <a:r>
              <a:rPr lang="en-US" b="1" dirty="0" err="1" smtClean="0"/>
              <a:t>tcp</a:t>
            </a:r>
            <a:r>
              <a:rPr lang="en-US" b="1" dirty="0" smtClean="0"/>
              <a:t>/</a:t>
            </a:r>
            <a:r>
              <a:rPr lang="en-US" b="1" dirty="0" err="1" smtClean="0"/>
              <a:t>ip</a:t>
            </a:r>
            <a:r>
              <a:rPr lang="en-US" b="1" dirty="0" smtClean="0"/>
              <a:t> </a:t>
            </a:r>
            <a:r>
              <a:rPr lang="en-US" dirty="0" smtClean="0"/>
              <a:t>that lead a way to become the modern internet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In 1984---the development of </a:t>
            </a:r>
            <a:r>
              <a:rPr lang="en-US" b="1" dirty="0" smtClean="0">
                <a:latin typeface="Georgia" panose="02040502050405020303" pitchFamily="18" charset="0"/>
              </a:rPr>
              <a:t>domain name services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In 1990, Tim Berners-Lee coined the term www</a:t>
            </a:r>
          </a:p>
          <a:p>
            <a:pPr lvl="3"/>
            <a:r>
              <a:rPr lang="en-US" dirty="0" smtClean="0">
                <a:latin typeface="Georgia" panose="02040502050405020303" pitchFamily="18" charset="0"/>
              </a:rPr>
              <a:t>First web server</a:t>
            </a:r>
          </a:p>
          <a:p>
            <a:pPr lvl="3"/>
            <a:r>
              <a:rPr lang="en-US" dirty="0" smtClean="0">
                <a:latin typeface="Georgia" panose="02040502050405020303" pitchFamily="18" charset="0"/>
              </a:rPr>
              <a:t>First web browser  called </a:t>
            </a:r>
            <a:r>
              <a:rPr lang="en-US" dirty="0" err="1" smtClean="0">
                <a:latin typeface="Georgia" panose="02040502050405020303" pitchFamily="18" charset="0"/>
              </a:rPr>
              <a:t>worldwideweb</a:t>
            </a:r>
            <a:endParaRPr lang="en-US" dirty="0" smtClean="0">
              <a:latin typeface="Georgia" panose="02040502050405020303" pitchFamily="18" charset="0"/>
            </a:endParaRPr>
          </a:p>
          <a:p>
            <a:pPr lvl="3"/>
            <a:r>
              <a:rPr lang="en-US" dirty="0" smtClean="0">
                <a:latin typeface="Georgia" panose="02040502050405020303" pitchFamily="18" charset="0"/>
              </a:rPr>
              <a:t>Web page</a:t>
            </a:r>
          </a:p>
          <a:p>
            <a:r>
              <a:rPr lang="en-US" b="1" u="sng" dirty="0" smtClean="0">
                <a:latin typeface="Georgia" panose="02040502050405020303" pitchFamily="18" charset="0"/>
              </a:rPr>
              <a:t>In 1993--Mosaic---first worlds popular browser,</a:t>
            </a:r>
          </a:p>
          <a:p>
            <a:endParaRPr lang="en-US" dirty="0" smtClean="0">
              <a:latin typeface="Georgia" panose="02040502050405020303" pitchFamily="18" charset="0"/>
            </a:endParaRPr>
          </a:p>
          <a:p>
            <a:pPr>
              <a:buNone/>
            </a:pPr>
            <a:endParaRPr lang="en-US" dirty="0" smtClean="0">
              <a:latin typeface="Georgia" panose="02040502050405020303" pitchFamily="18" charset="0"/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mine">
      <a:majorFont>
        <a:latin typeface="Calisto MT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 1</Template>
  <TotalTime>34538</TotalTime>
  <Words>3235</Words>
  <Application>Microsoft Office PowerPoint</Application>
  <PresentationFormat>Widescreen</PresentationFormat>
  <Paragraphs>273</Paragraphs>
  <Slides>45</Slides>
  <Notes>4</Notes>
  <HiddenSlides>0</HiddenSlides>
  <MMClips>1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Calisto MT</vt:lpstr>
      <vt:lpstr>Euphemia</vt:lpstr>
      <vt:lpstr>Georgia</vt:lpstr>
      <vt:lpstr>Wingdings</vt:lpstr>
      <vt:lpstr>Academic Literature 16x9</vt:lpstr>
      <vt:lpstr>Clip</vt:lpstr>
      <vt:lpstr> Chapter One Introduction   </vt:lpstr>
      <vt:lpstr>1.Internet   </vt:lpstr>
      <vt:lpstr>Discussion</vt:lpstr>
      <vt:lpstr>1.What is Internet?</vt:lpstr>
      <vt:lpstr>Who owns the internet?</vt:lpstr>
      <vt:lpstr>1.Internet…</vt:lpstr>
      <vt:lpstr>1.Internet…</vt:lpstr>
      <vt:lpstr>What does the Internet do? </vt:lpstr>
      <vt:lpstr>What does the Internet do?</vt:lpstr>
      <vt:lpstr>Why it is used?</vt:lpstr>
      <vt:lpstr>Audience</vt:lpstr>
      <vt:lpstr>How does it affect the audience?</vt:lpstr>
      <vt:lpstr>Advantages and Disadvantages</vt:lpstr>
      <vt:lpstr>Advantages and Disadvantages…</vt:lpstr>
      <vt:lpstr>Advantages and Disadvantages… </vt:lpstr>
      <vt:lpstr>How to access the Internet?</vt:lpstr>
      <vt:lpstr>How to access the Internet?</vt:lpstr>
      <vt:lpstr>Internet Service Provider (ISP)</vt:lpstr>
      <vt:lpstr>Wake up Quiz </vt:lpstr>
      <vt:lpstr>2.History of the Internet   </vt:lpstr>
      <vt:lpstr>History of the Internet </vt:lpstr>
      <vt:lpstr>Fun Facts</vt:lpstr>
      <vt:lpstr>History of the Internet </vt:lpstr>
      <vt:lpstr>History of the Internet </vt:lpstr>
      <vt:lpstr>History of the Internet </vt:lpstr>
      <vt:lpstr>History of the Internet.. </vt:lpstr>
      <vt:lpstr>History of the Internet </vt:lpstr>
      <vt:lpstr>History of the Internet </vt:lpstr>
      <vt:lpstr>History of the Internet </vt:lpstr>
      <vt:lpstr>History of the internet</vt:lpstr>
      <vt:lpstr>History of the internet</vt:lpstr>
      <vt:lpstr>History of the internet</vt:lpstr>
      <vt:lpstr>History of the internet</vt:lpstr>
      <vt:lpstr>History of the internet</vt:lpstr>
      <vt:lpstr>History of the internet</vt:lpstr>
      <vt:lpstr>History of the internet</vt:lpstr>
      <vt:lpstr>History of the internet</vt:lpstr>
      <vt:lpstr>History of the internet</vt:lpstr>
      <vt:lpstr>History of the internet</vt:lpstr>
      <vt:lpstr>History of the internet</vt:lpstr>
      <vt:lpstr>History of the internet</vt:lpstr>
      <vt:lpstr>History of the internet</vt:lpstr>
      <vt:lpstr>History of the internet</vt:lpstr>
      <vt:lpstr>Wake up Quiz</vt:lpstr>
      <vt:lpstr>Summery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Chapter One Introduction   </dc:title>
  <dc:creator>zol</dc:creator>
  <cp:lastModifiedBy>Lenvo</cp:lastModifiedBy>
  <cp:revision>346</cp:revision>
  <dcterms:created xsi:type="dcterms:W3CDTF">2018-01-10T13:12:44Z</dcterms:created>
  <dcterms:modified xsi:type="dcterms:W3CDTF">2025-10-15T15:15:53Z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